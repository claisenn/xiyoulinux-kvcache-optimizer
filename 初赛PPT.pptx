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73" r:id="rId4"/>
    <p:sldId id="257" r:id="rId6"/>
    <p:sldId id="258" r:id="rId7"/>
    <p:sldId id="259" r:id="rId8"/>
    <p:sldId id="260" r:id="rId9"/>
    <p:sldId id="261" r:id="rId10"/>
    <p:sldId id="262" r:id="rId11"/>
    <p:sldId id="280" r:id="rId12"/>
    <p:sldId id="263" r:id="rId13"/>
    <p:sldId id="266" r:id="rId14"/>
    <p:sldId id="267" r:id="rId15"/>
    <p:sldId id="268" r:id="rId16"/>
    <p:sldId id="269" r:id="rId17"/>
    <p:sldId id="278" r:id="rId18"/>
    <p:sldId id="277" r:id="rId19"/>
    <p:sldId id="279" r:id="rId20"/>
    <p:sldId id="270" r:id="rId21"/>
    <p:sldId id="274" r:id="rId2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4" userDrawn="1">
          <p15:clr>
            <a:srgbClr val="A4A3A4"/>
          </p15:clr>
        </p15:guide>
        <p15:guide id="2" pos="285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4"/>
        <p:guide pos="285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PPT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作者请关注公众号壹课，请尊重原作者。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这一页按时间线说明项目推进。三月下旬到四月上旬，团队先围绕赛题完成长上下文显存压力分析，阅读 vLLM KV connector、prefix cache 资料，并对 FlexKV、LMCache、Mooncake 等公开方案做横向调研，最终确定以 vLLM V1 connector 和 GPU、CPU、SSD 三层缓存为主路线。四月完成仓库、执行框架和 connector 接入链路搭建；五月集中实现 block 级缓存管理、三层缓存协同和跨层传输能力；六月补全缓存闭环、基准脚本和文档材料，形成可验证、可展示的阶段成果。</a:t>
            </a:r>
            <a:endParaRPr 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84"/>
            <a:ext cx="9799200" cy="2570637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729"/>
            <a:ext cx="9799200" cy="1472536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3765" indent="0" algn="ctr">
              <a:buNone/>
              <a:defRPr sz="1800"/>
            </a:lvl3pPr>
            <a:lvl4pPr marL="1370965" indent="0" algn="ctr">
              <a:buNone/>
              <a:defRPr sz="1600"/>
            </a:lvl4pPr>
            <a:lvl5pPr marL="1828165" indent="0" algn="ctr">
              <a:buNone/>
              <a:defRPr sz="1600"/>
            </a:lvl5pPr>
            <a:lvl6pPr marL="2285365" indent="0" algn="ctr">
              <a:buNone/>
              <a:defRPr sz="1600"/>
            </a:lvl6pPr>
            <a:lvl7pPr marL="2741295" indent="0" algn="ctr">
              <a:buNone/>
              <a:defRPr sz="1600"/>
            </a:lvl7pPr>
            <a:lvl8pPr marL="3198495" indent="0" algn="ctr">
              <a:buNone/>
              <a:defRPr sz="1600"/>
            </a:lvl8pPr>
            <a:lvl9pPr marL="3655695" indent="0" algn="ctr">
              <a:buNone/>
              <a:defRPr sz="1600"/>
            </a:lvl9pPr>
          </a:lstStyle>
          <a:p>
            <a:r>
              <a:rPr lang="zh-CN" altLang="en-US"/>
              <a:t>单击此处编辑副标题</a:t>
            </a:r>
            <a:endParaRPr lang="zh-CN" altLang="en-US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C06F3C0C-27E9-6440-A28B-0D19F68C4EB6}" type="datetime1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/>
              <a:t>基于宝宝的宝宝</a:t>
            </a:r>
            <a:endParaRPr lang="zh-CN" altLang="en-US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56"/>
            <a:ext cx="10969200" cy="705665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537"/>
            <a:ext cx="10969200" cy="4759639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kumimoji="0" lang="zh-CN" altLang="en-US" sz="1865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2365" marR="0" lvl="2" indent="-22860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599565" marR="0" lvl="3" indent="-22860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8F4B64D5-88C6-1042-AF6E-817503A98786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/>
              <a:t>基于宝宝的宝宝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cxnSp>
        <p:nvCxnSpPr>
          <p:cNvPr id="7" name="Straight Connector 7"/>
          <p:cNvCxnSpPr/>
          <p:nvPr userDrawn="1"/>
        </p:nvCxnSpPr>
        <p:spPr>
          <a:xfrm>
            <a:off x="608400" y="1314121"/>
            <a:ext cx="10969200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756"/>
            <a:ext cx="7768800" cy="766871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626"/>
            <a:ext cx="7768800" cy="86768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3765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096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16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36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129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19849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569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单击此处编辑文本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A69BA2CC-44EF-194D-B740-00323B067065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/>
              <a:t>基于宝宝的宝宝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56"/>
            <a:ext cx="10969200" cy="705665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339"/>
            <a:ext cx="5176800" cy="4748838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2365" marR="0" lvl="2" indent="-22860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599565" marR="0" lvl="3" indent="-22860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339"/>
            <a:ext cx="5176800" cy="4748838"/>
          </a:xfrm>
        </p:spPr>
        <p:txBody>
          <a:bodyPr lIns="90000" tIns="46800" rIns="90000" bIns="46800">
            <a:normAutofit/>
          </a:bodyPr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marL="1142365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marL="1599565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eaLnBrk="1" fontAlgn="auto" latinLnBrk="0" hangingPunct="1">
              <a:lnSpc>
                <a:spcPct val="120000"/>
              </a:lnSpc>
              <a:defRPr sz="1400"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16A6C3BE-B9EF-4943-BF05-4524F086AA50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基于宝宝的宝宝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56"/>
            <a:ext cx="10969200" cy="705665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332"/>
            <a:ext cx="5342400" cy="381636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buNone/>
              <a:defRPr sz="2000" b="1"/>
            </a:lvl2pPr>
            <a:lvl3pPr marL="913765" indent="0">
              <a:buNone/>
              <a:defRPr sz="1800" b="1"/>
            </a:lvl3pPr>
            <a:lvl4pPr marL="1370965" indent="0">
              <a:buNone/>
              <a:defRPr sz="1600" b="1"/>
            </a:lvl4pPr>
            <a:lvl5pPr marL="1828165" indent="0">
              <a:buNone/>
              <a:defRPr sz="1600" b="1"/>
            </a:lvl5pPr>
            <a:lvl6pPr marL="2285365" indent="0">
              <a:buNone/>
              <a:defRPr sz="1600" b="1"/>
            </a:lvl6pPr>
            <a:lvl7pPr marL="2741295" indent="0">
              <a:buNone/>
              <a:defRPr sz="1600" b="1"/>
            </a:lvl7pPr>
            <a:lvl8pPr marL="3198495" indent="0">
              <a:buNone/>
              <a:defRPr sz="1600" b="1"/>
            </a:lvl8pPr>
            <a:lvl9pPr marL="3655695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171"/>
            <a:ext cx="5342400" cy="4396006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2365" marR="0" lvl="2" indent="-22860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599565" marR="0" lvl="3" indent="-22860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1" y="1421860"/>
            <a:ext cx="5342400" cy="381636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3765" indent="0">
              <a:buNone/>
              <a:defRPr sz="1800" b="1"/>
            </a:lvl3pPr>
            <a:lvl4pPr marL="1370965" indent="0">
              <a:buNone/>
              <a:defRPr sz="1600" b="1"/>
            </a:lvl4pPr>
            <a:lvl5pPr marL="1828165" indent="0">
              <a:buNone/>
              <a:defRPr sz="1600" b="1"/>
            </a:lvl5pPr>
            <a:lvl6pPr marL="2285365" indent="0">
              <a:buNone/>
              <a:defRPr sz="1600" b="1"/>
            </a:lvl6pPr>
            <a:lvl7pPr marL="2741295" indent="0">
              <a:buNone/>
              <a:defRPr sz="1600" b="1"/>
            </a:lvl7pPr>
            <a:lvl8pPr marL="3198495" indent="0">
              <a:buNone/>
              <a:defRPr sz="1600" b="1"/>
            </a:lvl8pPr>
            <a:lvl9pPr marL="3655695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1" y="1854171"/>
            <a:ext cx="5342400" cy="4396006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2365" marR="0" lvl="2" indent="-22860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599565" marR="0" lvl="3" indent="-22860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8C5F02AB-3A3A-F948-8E93-9C71586A1980}" type="datetime1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r>
              <a:rPr lang="zh-CN" altLang="en-US"/>
              <a:t>基于宝宝的宝宝</a:t>
            </a: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56"/>
            <a:ext cx="10969200" cy="705665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69830AC9-08F5-2C46-A8D8-B9DDA3C89CD9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zh-CN" altLang="en-US"/>
              <a:t>基于宝宝的宝宝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599F6EA0-89DF-A641-B1D8-1D4C67A7E217}" type="datetime1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zh-CN" altLang="en-US"/>
              <a:t>基于宝宝的宝宝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331" y="1555259"/>
            <a:ext cx="5233035" cy="4608621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2365" marR="0" lvl="2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599565" marR="0" lvl="3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344"/>
            <a:ext cx="5227200" cy="4608426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None/>
              <a:tabLst>
                <a:tab pos="1609725" algn="l"/>
                <a:tab pos="1609725" algn="l"/>
                <a:tab pos="1609725" algn="l"/>
                <a:tab pos="1609725" algn="l"/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2pPr>
            <a:lvl3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39E2CEEF-6EC9-604E-AC92-7BBD12A9A9A8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/>
              <a:t>基于宝宝的宝宝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84"/>
            <a:ext cx="1044000" cy="5029665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84"/>
            <a:ext cx="9169200" cy="5029665"/>
          </a:xfrm>
        </p:spPr>
        <p:txBody>
          <a:bodyPr vert="eaVert" lIns="46800" tIns="46800" rIns="46800" bIns="46800"/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2365" indent="-2286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599565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6765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AB5F25C1-7806-214B-A884-4C8D02DC59D4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/>
              <a:t>基于宝宝的宝宝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2096C965-9207-7448-AA7A-40197FFBA871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zh-CN" altLang="en-US"/>
              <a:t>基于宝宝的宝宝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71"/>
            <a:ext cx="10972800" cy="5483306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2365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599565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6765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54529FB7-9B89-564D-8AB3-F4AA004866EA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zh-CN" altLang="en-US"/>
              <a:t>基于宝宝的宝宝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229"/>
            <a:ext cx="9799200" cy="1018894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729"/>
            <a:ext cx="9799200" cy="471643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8" Type="http://schemas.openxmlformats.org/officeDocument/2006/relationships/theme" Target="../theme/theme2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56"/>
            <a:ext cx="10969200" cy="705665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537"/>
            <a:ext cx="10969200" cy="4759639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983"/>
            <a:ext cx="2700000" cy="3168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9834432E-4B8E-9C47-8434-4A94AA92591C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983"/>
            <a:ext cx="3960000" cy="3168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/>
              <a:t>基于宝宝的宝宝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983"/>
            <a:ext cx="2700000" cy="3168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3765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j-cs"/>
        </a:defRPr>
      </a:lvl1pPr>
    </p:titleStyle>
    <p:bodyStyle>
      <a:lvl1pPr marL="228600" indent="-228600" algn="l" defTabSz="913765" rtl="0" eaLnBrk="1" fontAlgn="auto" latinLnBrk="0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1pPr>
      <a:lvl2pPr marL="685800" indent="-228600" algn="l" defTabSz="913765" rtl="0" eaLnBrk="1" fontAlgn="auto" latinLnBrk="0" hangingPunct="1">
        <a:lnSpc>
          <a:spcPct val="120000"/>
        </a:lnSpc>
        <a:spcBef>
          <a:spcPct val="0"/>
        </a:spcBef>
        <a:spcAft>
          <a:spcPts val="600"/>
        </a:spcAft>
        <a:buFont typeface="Arial" panose="020B0604020202020204" pitchFamily="34" charset="0"/>
        <a:buChar char="●"/>
        <a:tabLst>
          <a:tab pos="1608455" algn="l"/>
          <a:tab pos="1608455" algn="l"/>
          <a:tab pos="1608455" algn="l"/>
          <a:tab pos="160845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2pPr>
      <a:lvl3pPr marL="1142365" indent="-228600" algn="l" defTabSz="913765" rtl="0" eaLnBrk="1" fontAlgn="auto" latinLnBrk="0" hangingPunct="1">
        <a:lnSpc>
          <a:spcPct val="120000"/>
        </a:lnSpc>
        <a:spcBef>
          <a:spcPct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3pPr>
      <a:lvl4pPr marL="1599565" indent="-228600" algn="l" defTabSz="913765" rtl="0" eaLnBrk="1" fontAlgn="auto" latinLnBrk="0" hangingPunct="1">
        <a:lnSpc>
          <a:spcPct val="120000"/>
        </a:lnSpc>
        <a:spcBef>
          <a:spcPct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4pPr>
      <a:lvl5pPr marL="2056765" indent="-228600" algn="l" defTabSz="913765" rtl="0" eaLnBrk="1" fontAlgn="auto" latinLnBrk="0" hangingPunct="1">
        <a:lnSpc>
          <a:spcPct val="120000"/>
        </a:lnSpc>
        <a:spcBef>
          <a:spcPct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5pPr>
      <a:lvl6pPr marL="2512695" indent="-228600" algn="l" defTabSz="913765" rtl="0" eaLnBrk="1" latinLnBrk="0" hangingPunct="1">
        <a:lnSpc>
          <a:spcPct val="90000"/>
        </a:lnSpc>
        <a:spcBef>
          <a:spcPct val="10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69895" indent="-228600" algn="l" defTabSz="913765" rtl="0" eaLnBrk="1" latinLnBrk="0" hangingPunct="1">
        <a:lnSpc>
          <a:spcPct val="90000"/>
        </a:lnSpc>
        <a:spcBef>
          <a:spcPct val="10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095" indent="-228600" algn="l" defTabSz="913765" rtl="0" eaLnBrk="1" latinLnBrk="0" hangingPunct="1">
        <a:lnSpc>
          <a:spcPct val="90000"/>
        </a:lnSpc>
        <a:spcBef>
          <a:spcPct val="10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295" indent="-228600" algn="l" defTabSz="913765" rtl="0" eaLnBrk="1" latinLnBrk="0" hangingPunct="1">
        <a:lnSpc>
          <a:spcPct val="90000"/>
        </a:lnSpc>
        <a:spcBef>
          <a:spcPct val="10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7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09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1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3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129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849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569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71.xml"/><Relationship Id="rId8" Type="http://schemas.openxmlformats.org/officeDocument/2006/relationships/tags" Target="../tags/tag70.xml"/><Relationship Id="rId7" Type="http://schemas.openxmlformats.org/officeDocument/2006/relationships/tags" Target="../tags/tag69.xml"/><Relationship Id="rId6" Type="http://schemas.openxmlformats.org/officeDocument/2006/relationships/tags" Target="../tags/tag68.xml"/><Relationship Id="rId5" Type="http://schemas.openxmlformats.org/officeDocument/2006/relationships/tags" Target="../tags/tag67.xml"/><Relationship Id="rId4" Type="http://schemas.openxmlformats.org/officeDocument/2006/relationships/tags" Target="../tags/tag66.xml"/><Relationship Id="rId3" Type="http://schemas.openxmlformats.org/officeDocument/2006/relationships/tags" Target="../tags/tag65.xml"/><Relationship Id="rId21" Type="http://schemas.openxmlformats.org/officeDocument/2006/relationships/slideLayout" Target="../slideLayouts/slideLayout1.xml"/><Relationship Id="rId20" Type="http://schemas.openxmlformats.org/officeDocument/2006/relationships/tags" Target="../tags/tag82.xml"/><Relationship Id="rId2" Type="http://schemas.openxmlformats.org/officeDocument/2006/relationships/tags" Target="../tags/tag64.xml"/><Relationship Id="rId19" Type="http://schemas.openxmlformats.org/officeDocument/2006/relationships/tags" Target="../tags/tag81.xml"/><Relationship Id="rId18" Type="http://schemas.openxmlformats.org/officeDocument/2006/relationships/tags" Target="../tags/tag80.xml"/><Relationship Id="rId17" Type="http://schemas.openxmlformats.org/officeDocument/2006/relationships/tags" Target="../tags/tag79.xml"/><Relationship Id="rId16" Type="http://schemas.openxmlformats.org/officeDocument/2006/relationships/tags" Target="../tags/tag78.xml"/><Relationship Id="rId15" Type="http://schemas.openxmlformats.org/officeDocument/2006/relationships/tags" Target="../tags/tag77.xml"/><Relationship Id="rId14" Type="http://schemas.openxmlformats.org/officeDocument/2006/relationships/tags" Target="../tags/tag76.xml"/><Relationship Id="rId13" Type="http://schemas.openxmlformats.org/officeDocument/2006/relationships/tags" Target="../tags/tag75.xml"/><Relationship Id="rId12" Type="http://schemas.openxmlformats.org/officeDocument/2006/relationships/tags" Target="../tags/tag74.xml"/><Relationship Id="rId11" Type="http://schemas.openxmlformats.org/officeDocument/2006/relationships/tags" Target="../tags/tag73.xml"/><Relationship Id="rId10" Type="http://schemas.openxmlformats.org/officeDocument/2006/relationships/tags" Target="../tags/tag72.xml"/><Relationship Id="rId1" Type="http://schemas.openxmlformats.org/officeDocument/2006/relationships/tags" Target="../tags/tag6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91.xml"/><Relationship Id="rId8" Type="http://schemas.openxmlformats.org/officeDocument/2006/relationships/tags" Target="../tags/tag90.xml"/><Relationship Id="rId7" Type="http://schemas.openxmlformats.org/officeDocument/2006/relationships/tags" Target="../tags/tag89.xml"/><Relationship Id="rId6" Type="http://schemas.openxmlformats.org/officeDocument/2006/relationships/tags" Target="../tags/tag88.xml"/><Relationship Id="rId5" Type="http://schemas.openxmlformats.org/officeDocument/2006/relationships/tags" Target="../tags/tag87.xml"/><Relationship Id="rId4" Type="http://schemas.openxmlformats.org/officeDocument/2006/relationships/tags" Target="../tags/tag86.xml"/><Relationship Id="rId3" Type="http://schemas.openxmlformats.org/officeDocument/2006/relationships/tags" Target="../tags/tag85.xml"/><Relationship Id="rId21" Type="http://schemas.openxmlformats.org/officeDocument/2006/relationships/slideLayout" Target="../slideLayouts/slideLayout1.xml"/><Relationship Id="rId20" Type="http://schemas.openxmlformats.org/officeDocument/2006/relationships/tags" Target="../tags/tag102.xml"/><Relationship Id="rId2" Type="http://schemas.openxmlformats.org/officeDocument/2006/relationships/tags" Target="../tags/tag84.xml"/><Relationship Id="rId19" Type="http://schemas.openxmlformats.org/officeDocument/2006/relationships/tags" Target="../tags/tag101.xml"/><Relationship Id="rId18" Type="http://schemas.openxmlformats.org/officeDocument/2006/relationships/tags" Target="../tags/tag100.xml"/><Relationship Id="rId17" Type="http://schemas.openxmlformats.org/officeDocument/2006/relationships/tags" Target="../tags/tag99.xml"/><Relationship Id="rId16" Type="http://schemas.openxmlformats.org/officeDocument/2006/relationships/tags" Target="../tags/tag98.xml"/><Relationship Id="rId15" Type="http://schemas.openxmlformats.org/officeDocument/2006/relationships/tags" Target="../tags/tag97.xml"/><Relationship Id="rId14" Type="http://schemas.openxmlformats.org/officeDocument/2006/relationships/tags" Target="../tags/tag96.xml"/><Relationship Id="rId13" Type="http://schemas.openxmlformats.org/officeDocument/2006/relationships/tags" Target="../tags/tag95.xml"/><Relationship Id="rId12" Type="http://schemas.openxmlformats.org/officeDocument/2006/relationships/tags" Target="../tags/tag94.xml"/><Relationship Id="rId11" Type="http://schemas.openxmlformats.org/officeDocument/2006/relationships/tags" Target="../tags/tag93.xml"/><Relationship Id="rId10" Type="http://schemas.openxmlformats.org/officeDocument/2006/relationships/tags" Target="../tags/tag92.xml"/><Relationship Id="rId1" Type="http://schemas.openxmlformats.org/officeDocument/2006/relationships/tags" Target="../tags/tag83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111.xml"/><Relationship Id="rId8" Type="http://schemas.openxmlformats.org/officeDocument/2006/relationships/tags" Target="../tags/tag110.xml"/><Relationship Id="rId7" Type="http://schemas.openxmlformats.org/officeDocument/2006/relationships/tags" Target="../tags/tag109.xml"/><Relationship Id="rId6" Type="http://schemas.openxmlformats.org/officeDocument/2006/relationships/tags" Target="../tags/tag108.xml"/><Relationship Id="rId5" Type="http://schemas.openxmlformats.org/officeDocument/2006/relationships/tags" Target="../tags/tag107.xml"/><Relationship Id="rId4" Type="http://schemas.openxmlformats.org/officeDocument/2006/relationships/tags" Target="../tags/tag106.xml"/><Relationship Id="rId3" Type="http://schemas.openxmlformats.org/officeDocument/2006/relationships/tags" Target="../tags/tag105.xml"/><Relationship Id="rId2" Type="http://schemas.openxmlformats.org/officeDocument/2006/relationships/tags" Target="../tags/tag104.xml"/><Relationship Id="rId13" Type="http://schemas.openxmlformats.org/officeDocument/2006/relationships/slideLayout" Target="../slideLayouts/slideLayout1.xml"/><Relationship Id="rId12" Type="http://schemas.openxmlformats.org/officeDocument/2006/relationships/tags" Target="../tags/tag114.xml"/><Relationship Id="rId11" Type="http://schemas.openxmlformats.org/officeDocument/2006/relationships/tags" Target="../tags/tag113.xml"/><Relationship Id="rId10" Type="http://schemas.openxmlformats.org/officeDocument/2006/relationships/tags" Target="../tags/tag112.xml"/><Relationship Id="rId1" Type="http://schemas.openxmlformats.org/officeDocument/2006/relationships/tags" Target="../tags/tag10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123.xml"/><Relationship Id="rId8" Type="http://schemas.openxmlformats.org/officeDocument/2006/relationships/tags" Target="../tags/tag122.xml"/><Relationship Id="rId7" Type="http://schemas.openxmlformats.org/officeDocument/2006/relationships/tags" Target="../tags/tag121.xml"/><Relationship Id="rId6" Type="http://schemas.openxmlformats.org/officeDocument/2006/relationships/tags" Target="../tags/tag120.xml"/><Relationship Id="rId5" Type="http://schemas.openxmlformats.org/officeDocument/2006/relationships/tags" Target="../tags/tag119.xml"/><Relationship Id="rId4" Type="http://schemas.openxmlformats.org/officeDocument/2006/relationships/tags" Target="../tags/tag118.xml"/><Relationship Id="rId3" Type="http://schemas.openxmlformats.org/officeDocument/2006/relationships/tags" Target="../tags/tag117.xml"/><Relationship Id="rId2" Type="http://schemas.openxmlformats.org/officeDocument/2006/relationships/tags" Target="../tags/tag116.xml"/><Relationship Id="rId16" Type="http://schemas.openxmlformats.org/officeDocument/2006/relationships/slideLayout" Target="../slideLayouts/slideLayout1.xml"/><Relationship Id="rId15" Type="http://schemas.openxmlformats.org/officeDocument/2006/relationships/tags" Target="../tags/tag129.xml"/><Relationship Id="rId14" Type="http://schemas.openxmlformats.org/officeDocument/2006/relationships/tags" Target="../tags/tag128.xml"/><Relationship Id="rId13" Type="http://schemas.openxmlformats.org/officeDocument/2006/relationships/tags" Target="../tags/tag127.xml"/><Relationship Id="rId12" Type="http://schemas.openxmlformats.org/officeDocument/2006/relationships/tags" Target="../tags/tag126.xml"/><Relationship Id="rId11" Type="http://schemas.openxmlformats.org/officeDocument/2006/relationships/tags" Target="../tags/tag125.xml"/><Relationship Id="rId10" Type="http://schemas.openxmlformats.org/officeDocument/2006/relationships/tags" Target="../tags/tag124.xml"/><Relationship Id="rId1" Type="http://schemas.openxmlformats.org/officeDocument/2006/relationships/tags" Target="../tags/tag11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138.xml"/><Relationship Id="rId8" Type="http://schemas.openxmlformats.org/officeDocument/2006/relationships/tags" Target="../tags/tag137.xml"/><Relationship Id="rId7" Type="http://schemas.openxmlformats.org/officeDocument/2006/relationships/tags" Target="../tags/tag136.xml"/><Relationship Id="rId6" Type="http://schemas.openxmlformats.org/officeDocument/2006/relationships/tags" Target="../tags/tag135.xml"/><Relationship Id="rId5" Type="http://schemas.openxmlformats.org/officeDocument/2006/relationships/tags" Target="../tags/tag134.xml"/><Relationship Id="rId4" Type="http://schemas.openxmlformats.org/officeDocument/2006/relationships/tags" Target="../tags/tag133.xml"/><Relationship Id="rId3" Type="http://schemas.openxmlformats.org/officeDocument/2006/relationships/tags" Target="../tags/tag132.xml"/><Relationship Id="rId25" Type="http://schemas.openxmlformats.org/officeDocument/2006/relationships/slideLayout" Target="../slideLayouts/slideLayout1.xml"/><Relationship Id="rId24" Type="http://schemas.openxmlformats.org/officeDocument/2006/relationships/tags" Target="../tags/tag153.xml"/><Relationship Id="rId23" Type="http://schemas.openxmlformats.org/officeDocument/2006/relationships/tags" Target="../tags/tag152.xml"/><Relationship Id="rId22" Type="http://schemas.openxmlformats.org/officeDocument/2006/relationships/tags" Target="../tags/tag151.xml"/><Relationship Id="rId21" Type="http://schemas.openxmlformats.org/officeDocument/2006/relationships/tags" Target="../tags/tag150.xml"/><Relationship Id="rId20" Type="http://schemas.openxmlformats.org/officeDocument/2006/relationships/tags" Target="../tags/tag149.xml"/><Relationship Id="rId2" Type="http://schemas.openxmlformats.org/officeDocument/2006/relationships/tags" Target="../tags/tag131.xml"/><Relationship Id="rId19" Type="http://schemas.openxmlformats.org/officeDocument/2006/relationships/tags" Target="../tags/tag148.xml"/><Relationship Id="rId18" Type="http://schemas.openxmlformats.org/officeDocument/2006/relationships/tags" Target="../tags/tag147.xml"/><Relationship Id="rId17" Type="http://schemas.openxmlformats.org/officeDocument/2006/relationships/tags" Target="../tags/tag146.xml"/><Relationship Id="rId16" Type="http://schemas.openxmlformats.org/officeDocument/2006/relationships/tags" Target="../tags/tag145.xml"/><Relationship Id="rId15" Type="http://schemas.openxmlformats.org/officeDocument/2006/relationships/tags" Target="../tags/tag144.xml"/><Relationship Id="rId14" Type="http://schemas.openxmlformats.org/officeDocument/2006/relationships/tags" Target="../tags/tag143.xml"/><Relationship Id="rId13" Type="http://schemas.openxmlformats.org/officeDocument/2006/relationships/tags" Target="../tags/tag142.xml"/><Relationship Id="rId12" Type="http://schemas.openxmlformats.org/officeDocument/2006/relationships/tags" Target="../tags/tag141.xml"/><Relationship Id="rId11" Type="http://schemas.openxmlformats.org/officeDocument/2006/relationships/tags" Target="../tags/tag140.xml"/><Relationship Id="rId10" Type="http://schemas.openxmlformats.org/officeDocument/2006/relationships/tags" Target="../tags/tag139.xml"/><Relationship Id="rId1" Type="http://schemas.openxmlformats.org/officeDocument/2006/relationships/tags" Target="../tags/tag130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162.xml"/><Relationship Id="rId8" Type="http://schemas.openxmlformats.org/officeDocument/2006/relationships/tags" Target="../tags/tag161.xml"/><Relationship Id="rId7" Type="http://schemas.openxmlformats.org/officeDocument/2006/relationships/tags" Target="../tags/tag160.xml"/><Relationship Id="rId6" Type="http://schemas.openxmlformats.org/officeDocument/2006/relationships/tags" Target="../tags/tag159.xml"/><Relationship Id="rId5" Type="http://schemas.openxmlformats.org/officeDocument/2006/relationships/tags" Target="../tags/tag158.xml"/><Relationship Id="rId4" Type="http://schemas.openxmlformats.org/officeDocument/2006/relationships/tags" Target="../tags/tag157.xml"/><Relationship Id="rId3" Type="http://schemas.openxmlformats.org/officeDocument/2006/relationships/tags" Target="../tags/tag156.xml"/><Relationship Id="rId25" Type="http://schemas.openxmlformats.org/officeDocument/2006/relationships/slideLayout" Target="../slideLayouts/slideLayout1.xml"/><Relationship Id="rId24" Type="http://schemas.openxmlformats.org/officeDocument/2006/relationships/tags" Target="../tags/tag177.xml"/><Relationship Id="rId23" Type="http://schemas.openxmlformats.org/officeDocument/2006/relationships/tags" Target="../tags/tag176.xml"/><Relationship Id="rId22" Type="http://schemas.openxmlformats.org/officeDocument/2006/relationships/tags" Target="../tags/tag175.xml"/><Relationship Id="rId21" Type="http://schemas.openxmlformats.org/officeDocument/2006/relationships/tags" Target="../tags/tag174.xml"/><Relationship Id="rId20" Type="http://schemas.openxmlformats.org/officeDocument/2006/relationships/tags" Target="../tags/tag173.xml"/><Relationship Id="rId2" Type="http://schemas.openxmlformats.org/officeDocument/2006/relationships/tags" Target="../tags/tag155.xml"/><Relationship Id="rId19" Type="http://schemas.openxmlformats.org/officeDocument/2006/relationships/tags" Target="../tags/tag172.xml"/><Relationship Id="rId18" Type="http://schemas.openxmlformats.org/officeDocument/2006/relationships/tags" Target="../tags/tag171.xml"/><Relationship Id="rId17" Type="http://schemas.openxmlformats.org/officeDocument/2006/relationships/tags" Target="../tags/tag170.xml"/><Relationship Id="rId16" Type="http://schemas.openxmlformats.org/officeDocument/2006/relationships/tags" Target="../tags/tag169.xml"/><Relationship Id="rId15" Type="http://schemas.openxmlformats.org/officeDocument/2006/relationships/tags" Target="../tags/tag168.xml"/><Relationship Id="rId14" Type="http://schemas.openxmlformats.org/officeDocument/2006/relationships/tags" Target="../tags/tag167.xml"/><Relationship Id="rId13" Type="http://schemas.openxmlformats.org/officeDocument/2006/relationships/tags" Target="../tags/tag166.xml"/><Relationship Id="rId12" Type="http://schemas.openxmlformats.org/officeDocument/2006/relationships/tags" Target="../tags/tag165.xml"/><Relationship Id="rId11" Type="http://schemas.openxmlformats.org/officeDocument/2006/relationships/tags" Target="../tags/tag164.xml"/><Relationship Id="rId10" Type="http://schemas.openxmlformats.org/officeDocument/2006/relationships/tags" Target="../tags/tag163.xml"/><Relationship Id="rId1" Type="http://schemas.openxmlformats.org/officeDocument/2006/relationships/tags" Target="../tags/tag154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186.xml"/><Relationship Id="rId8" Type="http://schemas.openxmlformats.org/officeDocument/2006/relationships/tags" Target="../tags/tag185.xml"/><Relationship Id="rId7" Type="http://schemas.openxmlformats.org/officeDocument/2006/relationships/tags" Target="../tags/tag184.xml"/><Relationship Id="rId6" Type="http://schemas.openxmlformats.org/officeDocument/2006/relationships/tags" Target="../tags/tag183.xml"/><Relationship Id="rId5" Type="http://schemas.openxmlformats.org/officeDocument/2006/relationships/tags" Target="../tags/tag182.xml"/><Relationship Id="rId4" Type="http://schemas.openxmlformats.org/officeDocument/2006/relationships/tags" Target="../tags/tag181.xml"/><Relationship Id="rId3" Type="http://schemas.openxmlformats.org/officeDocument/2006/relationships/tags" Target="../tags/tag180.xml"/><Relationship Id="rId22" Type="http://schemas.openxmlformats.org/officeDocument/2006/relationships/slideLayout" Target="../slideLayouts/slideLayout1.xml"/><Relationship Id="rId21" Type="http://schemas.openxmlformats.org/officeDocument/2006/relationships/tags" Target="../tags/tag198.xml"/><Relationship Id="rId20" Type="http://schemas.openxmlformats.org/officeDocument/2006/relationships/tags" Target="../tags/tag197.xml"/><Relationship Id="rId2" Type="http://schemas.openxmlformats.org/officeDocument/2006/relationships/tags" Target="../tags/tag179.xml"/><Relationship Id="rId19" Type="http://schemas.openxmlformats.org/officeDocument/2006/relationships/tags" Target="../tags/tag196.xml"/><Relationship Id="rId18" Type="http://schemas.openxmlformats.org/officeDocument/2006/relationships/tags" Target="../tags/tag195.xml"/><Relationship Id="rId17" Type="http://schemas.openxmlformats.org/officeDocument/2006/relationships/tags" Target="../tags/tag194.xml"/><Relationship Id="rId16" Type="http://schemas.openxmlformats.org/officeDocument/2006/relationships/tags" Target="../tags/tag193.xml"/><Relationship Id="rId15" Type="http://schemas.openxmlformats.org/officeDocument/2006/relationships/tags" Target="../tags/tag192.xml"/><Relationship Id="rId14" Type="http://schemas.openxmlformats.org/officeDocument/2006/relationships/tags" Target="../tags/tag191.xml"/><Relationship Id="rId13" Type="http://schemas.openxmlformats.org/officeDocument/2006/relationships/tags" Target="../tags/tag190.xml"/><Relationship Id="rId12" Type="http://schemas.openxmlformats.org/officeDocument/2006/relationships/tags" Target="../tags/tag189.xml"/><Relationship Id="rId11" Type="http://schemas.openxmlformats.org/officeDocument/2006/relationships/tags" Target="../tags/tag188.xml"/><Relationship Id="rId10" Type="http://schemas.openxmlformats.org/officeDocument/2006/relationships/tags" Target="../tags/tag187.xml"/><Relationship Id="rId1" Type="http://schemas.openxmlformats.org/officeDocument/2006/relationships/tags" Target="../tags/tag178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tags" Target="../tags/tag207.xml"/><Relationship Id="rId8" Type="http://schemas.openxmlformats.org/officeDocument/2006/relationships/tags" Target="../tags/tag206.xml"/><Relationship Id="rId7" Type="http://schemas.openxmlformats.org/officeDocument/2006/relationships/tags" Target="../tags/tag205.xml"/><Relationship Id="rId6" Type="http://schemas.openxmlformats.org/officeDocument/2006/relationships/tags" Target="../tags/tag204.xml"/><Relationship Id="rId5" Type="http://schemas.openxmlformats.org/officeDocument/2006/relationships/tags" Target="../tags/tag203.xml"/><Relationship Id="rId4" Type="http://schemas.openxmlformats.org/officeDocument/2006/relationships/tags" Target="../tags/tag202.xml"/><Relationship Id="rId3" Type="http://schemas.openxmlformats.org/officeDocument/2006/relationships/tags" Target="../tags/tag201.xml"/><Relationship Id="rId22" Type="http://schemas.openxmlformats.org/officeDocument/2006/relationships/slideLayout" Target="../slideLayouts/slideLayout1.xml"/><Relationship Id="rId21" Type="http://schemas.openxmlformats.org/officeDocument/2006/relationships/tags" Target="../tags/tag219.xml"/><Relationship Id="rId20" Type="http://schemas.openxmlformats.org/officeDocument/2006/relationships/tags" Target="../tags/tag218.xml"/><Relationship Id="rId2" Type="http://schemas.openxmlformats.org/officeDocument/2006/relationships/tags" Target="../tags/tag200.xml"/><Relationship Id="rId19" Type="http://schemas.openxmlformats.org/officeDocument/2006/relationships/tags" Target="../tags/tag217.xml"/><Relationship Id="rId18" Type="http://schemas.openxmlformats.org/officeDocument/2006/relationships/tags" Target="../tags/tag216.xml"/><Relationship Id="rId17" Type="http://schemas.openxmlformats.org/officeDocument/2006/relationships/tags" Target="../tags/tag215.xml"/><Relationship Id="rId16" Type="http://schemas.openxmlformats.org/officeDocument/2006/relationships/tags" Target="../tags/tag214.xml"/><Relationship Id="rId15" Type="http://schemas.openxmlformats.org/officeDocument/2006/relationships/tags" Target="../tags/tag213.xml"/><Relationship Id="rId14" Type="http://schemas.openxmlformats.org/officeDocument/2006/relationships/tags" Target="../tags/tag212.xml"/><Relationship Id="rId13" Type="http://schemas.openxmlformats.org/officeDocument/2006/relationships/tags" Target="../tags/tag211.xml"/><Relationship Id="rId12" Type="http://schemas.openxmlformats.org/officeDocument/2006/relationships/tags" Target="../tags/tag210.xml"/><Relationship Id="rId11" Type="http://schemas.openxmlformats.org/officeDocument/2006/relationships/tags" Target="../tags/tag209.xml"/><Relationship Id="rId10" Type="http://schemas.openxmlformats.org/officeDocument/2006/relationships/tags" Target="../tags/tag208.xml"/><Relationship Id="rId1" Type="http://schemas.openxmlformats.org/officeDocument/2006/relationships/tags" Target="../tags/tag19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52" t="32051" r="152" b="3522"/>
          <a:stretch>
            <a:fillRect/>
          </a:stretch>
        </p:blipFill>
        <p:spPr>
          <a:xfrm>
            <a:off x="3763" y="5213518"/>
            <a:ext cx="4596465" cy="1696307"/>
          </a:xfrm>
          <a:prstGeom prst="rect">
            <a:avLst/>
          </a:prstGeom>
        </p:spPr>
      </p:pic>
      <p:sp>
        <p:nvSpPr>
          <p:cNvPr id="14" name="矩形 13"/>
          <p:cNvSpPr/>
          <p:nvPr/>
        </p:nvSpPr>
        <p:spPr>
          <a:xfrm>
            <a:off x="3763" y="5222202"/>
            <a:ext cx="12184475" cy="1633680"/>
          </a:xfrm>
          <a:prstGeom prst="rect">
            <a:avLst/>
          </a:prstGeom>
          <a:solidFill>
            <a:srgbClr val="002060">
              <a:alpha val="8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4784900" y="2117"/>
            <a:ext cx="2543509" cy="2556201"/>
            <a:chOff x="4705866" y="0"/>
            <a:chExt cx="2780268" cy="3063728"/>
          </a:xfrm>
        </p:grpSpPr>
        <p:sp>
          <p:nvSpPr>
            <p:cNvPr id="28" name="任意多边形 27"/>
            <p:cNvSpPr/>
            <p:nvPr/>
          </p:nvSpPr>
          <p:spPr>
            <a:xfrm>
              <a:off x="4705866" y="0"/>
              <a:ext cx="2780268" cy="3063728"/>
            </a:xfrm>
            <a:custGeom>
              <a:avLst/>
              <a:gdLst>
                <a:gd name="connsiteX0" fmla="*/ 0 w 2780268"/>
                <a:gd name="connsiteY0" fmla="*/ 0 h 3063728"/>
                <a:gd name="connsiteX1" fmla="*/ 2780268 w 2780268"/>
                <a:gd name="connsiteY1" fmla="*/ 0 h 3063728"/>
                <a:gd name="connsiteX2" fmla="*/ 2780268 w 2780268"/>
                <a:gd name="connsiteY2" fmla="*/ 1673594 h 3063728"/>
                <a:gd name="connsiteX3" fmla="*/ 1390134 w 2780268"/>
                <a:gd name="connsiteY3" fmla="*/ 3063728 h 3063728"/>
                <a:gd name="connsiteX4" fmla="*/ 0 w 2780268"/>
                <a:gd name="connsiteY4" fmla="*/ 1673594 h 3063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80268" h="3063728">
                  <a:moveTo>
                    <a:pt x="0" y="0"/>
                  </a:moveTo>
                  <a:lnTo>
                    <a:pt x="2780268" y="0"/>
                  </a:lnTo>
                  <a:lnTo>
                    <a:pt x="2780268" y="1673594"/>
                  </a:lnTo>
                  <a:cubicBezTo>
                    <a:pt x="2780268" y="2441344"/>
                    <a:pt x="2157884" y="3063728"/>
                    <a:pt x="1390134" y="3063728"/>
                  </a:cubicBezTo>
                  <a:cubicBezTo>
                    <a:pt x="622384" y="3063728"/>
                    <a:pt x="0" y="2441344"/>
                    <a:pt x="0" y="1673594"/>
                  </a:cubicBez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7" name="组合 6"/>
            <p:cNvGrpSpPr/>
            <p:nvPr/>
          </p:nvGrpSpPr>
          <p:grpSpPr>
            <a:xfrm>
              <a:off x="4875891" y="408799"/>
              <a:ext cx="2439190" cy="2439192"/>
              <a:chOff x="5007734" y="902247"/>
              <a:chExt cx="2543685" cy="2543686"/>
            </a:xfrm>
          </p:grpSpPr>
          <p:sp>
            <p:nvSpPr>
              <p:cNvPr id="8" name="椭圆 7"/>
              <p:cNvSpPr/>
              <p:nvPr/>
            </p:nvSpPr>
            <p:spPr>
              <a:xfrm>
                <a:off x="5007734" y="902247"/>
                <a:ext cx="2543685" cy="2543686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/>
                  </a:gs>
                  <a:gs pos="100000">
                    <a:srgbClr val="E8E8E8"/>
                  </a:gs>
                </a:gsLst>
                <a:lin ang="5400000" scaled="1"/>
                <a:tileRect/>
              </a:gradFill>
              <a:ln>
                <a:noFill/>
              </a:ln>
              <a:effectLst>
                <a:outerShdw blurRad="139700" dist="38100" dir="5400000" algn="t" rotWithShape="0">
                  <a:prstClr val="black">
                    <a:alpha val="19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" name="椭圆 8"/>
              <p:cNvSpPr/>
              <p:nvPr/>
            </p:nvSpPr>
            <p:spPr>
              <a:xfrm rot="10800000">
                <a:off x="5160137" y="1054647"/>
                <a:ext cx="2213120" cy="2213120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/>
                  </a:gs>
                  <a:gs pos="100000">
                    <a:srgbClr val="E8E8E8"/>
                  </a:gs>
                </a:gsLst>
                <a:lin ang="5400000" scaled="1"/>
                <a:tileRect/>
              </a:gradFill>
              <a:ln>
                <a:noFill/>
              </a:ln>
              <a:effectLst>
                <a:innerShdw blurRad="88900">
                  <a:prstClr val="black">
                    <a:alpha val="16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15" name="矩形 14"/>
          <p:cNvSpPr/>
          <p:nvPr/>
        </p:nvSpPr>
        <p:spPr>
          <a:xfrm>
            <a:off x="3763" y="5052670"/>
            <a:ext cx="12184475" cy="7706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376" y="-1057"/>
            <a:ext cx="12184475" cy="4970251"/>
          </a:xfrm>
          <a:prstGeom prst="rect">
            <a:avLst/>
          </a:prstGeom>
          <a:solidFill>
            <a:schemeClr val="accent2">
              <a:lumMod val="50000"/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6" name="文本框 15"/>
          <p:cNvSpPr txBox="1"/>
          <p:nvPr/>
        </p:nvSpPr>
        <p:spPr>
          <a:xfrm>
            <a:off x="1129557" y="2929563"/>
            <a:ext cx="10007768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rPr>
              <a:t>面向</a:t>
            </a:r>
            <a:r>
              <a:rPr lang="en-US" altLang="zh-CN" sz="54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rPr>
              <a:t>AI</a:t>
            </a:r>
            <a:r>
              <a:rPr lang="zh-CN" altLang="en-US" sz="54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rPr>
              <a:t>推理负载的异构存储管理系统优化</a:t>
            </a:r>
            <a:endParaRPr lang="zh-CN" altLang="en-US" sz="5400" b="1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2535096" y="5222423"/>
            <a:ext cx="6796327" cy="16814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indent="0" algn="ctr" fontAlgn="auto">
              <a:lnSpc>
                <a:spcPts val="2960"/>
              </a:lnSpc>
            </a:pPr>
            <a:r>
              <a:rPr lang="zh-CN" altLang="en-US" sz="2000" b="1" dirty="0">
                <a:solidFill>
                  <a:schemeClr val="bg1"/>
                </a:solidFill>
                <a:latin typeface="方正小标宋简体" panose="03000509000000000000" charset="-122"/>
                <a:ea typeface="方正小标宋简体" panose="03000509000000000000" charset="-122"/>
                <a:cs typeface="方正小标宋简体" panose="03000509000000000000" charset="-122"/>
                <a:sym typeface="+mn-ea"/>
              </a:rPr>
              <a:t>汇报队伍：古法编程继承人</a:t>
            </a:r>
            <a:endParaRPr lang="zh-CN" altLang="en-US" sz="2000" b="1" dirty="0">
              <a:solidFill>
                <a:schemeClr val="bg1"/>
              </a:solidFill>
              <a:latin typeface="方正小标宋简体" panose="03000509000000000000" charset="-122"/>
              <a:ea typeface="方正小标宋简体" panose="03000509000000000000" charset="-122"/>
              <a:cs typeface="方正小标宋简体" panose="03000509000000000000" charset="-122"/>
              <a:sym typeface="+mn-ea"/>
            </a:endParaRPr>
          </a:p>
          <a:p>
            <a:pPr indent="0" algn="ctr" fontAlgn="auto">
              <a:lnSpc>
                <a:spcPts val="2960"/>
              </a:lnSpc>
            </a:pPr>
            <a:r>
              <a:rPr lang="zh-CN" altLang="en-US" sz="2000" b="1" dirty="0">
                <a:solidFill>
                  <a:schemeClr val="bg1"/>
                </a:solidFill>
                <a:latin typeface="方正小标宋简体" panose="03000509000000000000" charset="-122"/>
                <a:ea typeface="方正小标宋简体" panose="03000509000000000000" charset="-122"/>
                <a:cs typeface="方正小标宋简体" panose="03000509000000000000" charset="-122"/>
                <a:sym typeface="+mn-ea"/>
              </a:rPr>
              <a:t>成员：井光成，徐子淳，祁馨叶 </a:t>
            </a:r>
            <a:endParaRPr lang="zh-CN" altLang="en-US" sz="2000" b="1" dirty="0">
              <a:solidFill>
                <a:schemeClr val="bg1"/>
              </a:solidFill>
              <a:latin typeface="方正小标宋简体" panose="03000509000000000000" charset="-122"/>
              <a:ea typeface="方正小标宋简体" panose="03000509000000000000" charset="-122"/>
              <a:cs typeface="方正小标宋简体" panose="03000509000000000000" charset="-122"/>
            </a:endParaRPr>
          </a:p>
          <a:p>
            <a:endParaRPr lang="zh-CN" altLang="en-US" dirty="0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 dirty="0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0" name="图片 9"/>
          <p:cNvPicPr/>
          <p:nvPr/>
        </p:nvPicPr>
        <p:blipFill>
          <a:blip r:embed="rId2"/>
          <a:stretch>
            <a:fillRect/>
          </a:stretch>
        </p:blipFill>
        <p:spPr>
          <a:xfrm>
            <a:off x="5074281" y="465381"/>
            <a:ext cx="1941265" cy="1809903"/>
          </a:xfrm>
          <a:prstGeom prst="ellipse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/>
          <p:nvPr/>
        </p:nvSpPr>
        <p:spPr>
          <a:xfrm>
            <a:off x="0" y="0"/>
            <a:ext cx="12192000" cy="8382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457200" y="800100"/>
            <a:ext cx="11277600" cy="38100"/>
          </a:xfrm>
          <a:prstGeom prst="rect">
            <a:avLst/>
          </a:prstGeom>
          <a:solidFill>
            <a:srgbClr val="00B0F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18160" y="209550"/>
            <a:ext cx="83820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rPr>
              <a:t>目录</a:t>
            </a:r>
            <a:endParaRPr lang="zh-CN" sz="3000" dirty="0">
              <a:solidFill>
                <a:srgbClr val="002060"/>
              </a:solidFill>
              <a:latin typeface="Arial" panose="020B0604020202020204"/>
              <a:ea typeface="黑体" panose="02010609060101010101" charset="-122"/>
              <a:cs typeface="Arial" panose="020B0604020202020204"/>
            </a:endParaRPr>
          </a:p>
        </p:txBody>
      </p:sp>
      <p:grpSp>
        <p:nvGrpSpPr>
          <p:cNvPr id="12" name="Group 12"/>
          <p:cNvGrpSpPr/>
          <p:nvPr>
            <p:custDataLst>
              <p:tags r:id="rId1"/>
            </p:custDataLst>
          </p:nvPr>
        </p:nvGrpSpPr>
        <p:grpSpPr>
          <a:xfrm>
            <a:off x="685800" y="1619250"/>
            <a:ext cx="10820400" cy="895350"/>
            <a:chOff x="685800" y="1619250"/>
            <a:chExt cx="10820400" cy="895350"/>
          </a:xfrm>
        </p:grpSpPr>
        <p:sp>
          <p:nvSpPr>
            <p:cNvPr id="7" name="Rectangle 7"/>
            <p:cNvSpPr/>
            <p:nvPr/>
          </p:nvSpPr>
          <p:spPr>
            <a:xfrm>
              <a:off x="685800" y="1619250"/>
              <a:ext cx="10820400" cy="895350"/>
            </a:xfrm>
            <a:prstGeom prst="roundRect">
              <a:avLst>
                <a:gd name="adj" fmla="val 19149"/>
              </a:avLst>
            </a:prstGeom>
            <a:solidFill>
              <a:srgbClr val="F4F8FF"/>
            </a:solidFill>
            <a:ln w="9525">
              <a:solidFill>
                <a:srgbClr val="C9D9F2"/>
              </a:solidFill>
            </a:ln>
          </p:spPr>
        </p:sp>
        <p:sp>
          <p:nvSpPr>
            <p:cNvPr id="8" name="Ellipse 8"/>
            <p:cNvSpPr/>
            <p:nvPr>
              <p:custDataLst>
                <p:tags r:id="rId2"/>
              </p:custDataLst>
            </p:nvPr>
          </p:nvSpPr>
          <p:spPr>
            <a:xfrm>
              <a:off x="914400" y="1857375"/>
              <a:ext cx="419100" cy="419100"/>
            </a:xfrm>
            <a:prstGeom prst="ellipse">
              <a:avLst/>
            </a:prstGeom>
            <a:solidFill>
              <a:srgbClr val="002060"/>
            </a:solidFill>
            <a:ln>
              <a:noFill/>
            </a:ln>
          </p:spPr>
        </p:sp>
        <p:sp>
          <p:nvSpPr>
            <p:cNvPr id="9" name="TextBox 9"/>
            <p:cNvSpPr txBox="1"/>
            <p:nvPr>
              <p:custDataLst>
                <p:tags r:id="rId3"/>
              </p:custDataLst>
            </p:nvPr>
          </p:nvSpPr>
          <p:spPr>
            <a:xfrm>
              <a:off x="1040130" y="198120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1</a:t>
              </a:r>
              <a:endParaRPr lang="en-US" sz="150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10" name="TextBox 10"/>
            <p:cNvSpPr txBox="1"/>
            <p:nvPr>
              <p:custDataLst>
                <p:tags r:id="rId4"/>
              </p:custDataLst>
            </p:nvPr>
          </p:nvSpPr>
          <p:spPr>
            <a:xfrm>
              <a:off x="1569720" y="1795462"/>
              <a:ext cx="274891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rgbClr val="002060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项目背景与赛题目标</a:t>
              </a:r>
              <a:endParaRPr lang="zh-CN" sz="225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11" name="TextBox 11"/>
            <p:cNvSpPr txBox="1"/>
            <p:nvPr>
              <p:custDataLst>
                <p:tags r:id="rId5"/>
              </p:custDataLst>
            </p:nvPr>
          </p:nvSpPr>
          <p:spPr>
            <a:xfrm>
              <a:off x="1572768" y="2165032"/>
              <a:ext cx="445922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44546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说明问题来源、赛题任务和本项目的切入点。</a:t>
              </a:r>
              <a:endParaRPr lang="zh-CN" sz="1650" dirty="0">
                <a:solidFill>
                  <a:srgbClr val="44546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8" name="Group 18"/>
          <p:cNvGrpSpPr/>
          <p:nvPr>
            <p:custDataLst>
              <p:tags r:id="rId6"/>
            </p:custDataLst>
          </p:nvPr>
        </p:nvGrpSpPr>
        <p:grpSpPr>
          <a:xfrm>
            <a:off x="685800" y="2724150"/>
            <a:ext cx="10820400" cy="895350"/>
            <a:chOff x="685800" y="2724150"/>
            <a:chExt cx="10820400" cy="895350"/>
          </a:xfrm>
        </p:grpSpPr>
        <p:sp>
          <p:nvSpPr>
            <p:cNvPr id="13" name="Rectangle 13"/>
            <p:cNvSpPr/>
            <p:nvPr/>
          </p:nvSpPr>
          <p:spPr>
            <a:xfrm>
              <a:off x="685800" y="2724150"/>
              <a:ext cx="10820400" cy="895350"/>
            </a:xfrm>
            <a:prstGeom prst="roundRect">
              <a:avLst>
                <a:gd name="adj" fmla="val 19149"/>
              </a:avLst>
            </a:prstGeom>
            <a:solidFill>
              <a:srgbClr val="F4F8FF"/>
            </a:solidFill>
            <a:ln w="9525">
              <a:solidFill>
                <a:srgbClr val="C9D9F2"/>
              </a:solidFill>
            </a:ln>
          </p:spPr>
        </p:sp>
        <p:sp>
          <p:nvSpPr>
            <p:cNvPr id="14" name="Ellipse 14"/>
            <p:cNvSpPr/>
            <p:nvPr>
              <p:custDataLst>
                <p:tags r:id="rId7"/>
              </p:custDataLst>
            </p:nvPr>
          </p:nvSpPr>
          <p:spPr>
            <a:xfrm>
              <a:off x="914400" y="2962275"/>
              <a:ext cx="419100" cy="419100"/>
            </a:xfrm>
            <a:prstGeom prst="ellipse">
              <a:avLst/>
            </a:prstGeom>
            <a:solidFill>
              <a:srgbClr val="002060"/>
            </a:solidFill>
            <a:ln>
              <a:noFill/>
            </a:ln>
          </p:spPr>
        </p:sp>
        <p:sp>
          <p:nvSpPr>
            <p:cNvPr id="15" name="TextBox 15"/>
            <p:cNvSpPr txBox="1"/>
            <p:nvPr>
              <p:custDataLst>
                <p:tags r:id="rId8"/>
              </p:custDataLst>
            </p:nvPr>
          </p:nvSpPr>
          <p:spPr>
            <a:xfrm>
              <a:off x="1040130" y="308610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2</a:t>
              </a:r>
              <a:endParaRPr lang="en-US" sz="150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16" name="TextBox 16"/>
            <p:cNvSpPr txBox="1"/>
            <p:nvPr>
              <p:custDataLst>
                <p:tags r:id="rId9"/>
              </p:custDataLst>
            </p:nvPr>
          </p:nvSpPr>
          <p:spPr>
            <a:xfrm>
              <a:off x="1569720" y="2900362"/>
              <a:ext cx="274891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rgbClr val="002060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系统设计与关键机制</a:t>
              </a:r>
              <a:endParaRPr lang="zh-CN" sz="225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17" name="TextBox 17"/>
            <p:cNvSpPr txBox="1"/>
            <p:nvPr>
              <p:custDataLst>
                <p:tags r:id="rId10"/>
              </p:custDataLst>
            </p:nvPr>
          </p:nvSpPr>
          <p:spPr>
            <a:xfrm>
              <a:off x="1572768" y="3269932"/>
              <a:ext cx="582050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44546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介绍 MiniFlexKV 的接入方式、模块分层与关键实现机制。</a:t>
              </a:r>
              <a:endParaRPr lang="zh-CN" sz="1650" dirty="0">
                <a:solidFill>
                  <a:srgbClr val="44546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4" name="Group 24"/>
          <p:cNvGrpSpPr/>
          <p:nvPr>
            <p:custDataLst>
              <p:tags r:id="rId11"/>
            </p:custDataLst>
          </p:nvPr>
        </p:nvGrpSpPr>
        <p:grpSpPr>
          <a:xfrm>
            <a:off x="685800" y="3829050"/>
            <a:ext cx="10820400" cy="895350"/>
            <a:chOff x="685800" y="3829050"/>
            <a:chExt cx="10820400" cy="895350"/>
          </a:xfrm>
        </p:grpSpPr>
        <p:sp>
          <p:nvSpPr>
            <p:cNvPr id="19" name="Rectangle 19"/>
            <p:cNvSpPr/>
            <p:nvPr/>
          </p:nvSpPr>
          <p:spPr>
            <a:xfrm>
              <a:off x="685800" y="3829050"/>
              <a:ext cx="10820400" cy="895350"/>
            </a:xfrm>
            <a:prstGeom prst="roundRect">
              <a:avLst>
                <a:gd name="adj" fmla="val 19149"/>
              </a:avLst>
            </a:prstGeom>
            <a:solidFill>
              <a:srgbClr val="F4F8FF"/>
            </a:solidFill>
            <a:ln w="9525">
              <a:solidFill>
                <a:srgbClr val="C9D9F2"/>
              </a:solidFill>
            </a:ln>
          </p:spPr>
        </p:sp>
        <p:sp>
          <p:nvSpPr>
            <p:cNvPr id="20" name="Ellipse 20"/>
            <p:cNvSpPr/>
            <p:nvPr>
              <p:custDataLst>
                <p:tags r:id="rId12"/>
              </p:custDataLst>
            </p:nvPr>
          </p:nvSpPr>
          <p:spPr>
            <a:xfrm>
              <a:off x="914400" y="4067175"/>
              <a:ext cx="419100" cy="419100"/>
            </a:xfrm>
            <a:prstGeom prst="ellipse">
              <a:avLst/>
            </a:prstGeom>
            <a:solidFill>
              <a:srgbClr val="002060"/>
            </a:solidFill>
            <a:ln>
              <a:noFill/>
            </a:ln>
          </p:spPr>
        </p:sp>
        <p:sp>
          <p:nvSpPr>
            <p:cNvPr id="21" name="TextBox 21"/>
            <p:cNvSpPr txBox="1"/>
            <p:nvPr>
              <p:custDataLst>
                <p:tags r:id="rId13"/>
              </p:custDataLst>
            </p:nvPr>
          </p:nvSpPr>
          <p:spPr>
            <a:xfrm>
              <a:off x="1040130" y="419100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3</a:t>
              </a:r>
              <a:endParaRPr lang="en-US" sz="150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2" name="TextBox 22"/>
            <p:cNvSpPr txBox="1"/>
            <p:nvPr>
              <p:custDataLst>
                <p:tags r:id="rId14"/>
              </p:custDataLst>
            </p:nvPr>
          </p:nvSpPr>
          <p:spPr>
            <a:xfrm>
              <a:off x="1569720" y="4005262"/>
              <a:ext cx="274891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rgbClr val="002060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项目进展与实验成果</a:t>
              </a:r>
              <a:endParaRPr lang="zh-CN" sz="225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23" name="TextBox 23"/>
            <p:cNvSpPr txBox="1"/>
            <p:nvPr>
              <p:custDataLst>
                <p:tags r:id="rId15"/>
              </p:custDataLst>
            </p:nvPr>
          </p:nvSpPr>
          <p:spPr>
            <a:xfrm>
              <a:off x="1572768" y="4374832"/>
              <a:ext cx="445922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44546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呈现当前完成情况、正确性验证和性能结果。</a:t>
              </a:r>
              <a:endParaRPr lang="zh-CN" sz="1650" dirty="0">
                <a:solidFill>
                  <a:srgbClr val="44546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0" name="Group 30"/>
          <p:cNvGrpSpPr/>
          <p:nvPr>
            <p:custDataLst>
              <p:tags r:id="rId16"/>
            </p:custDataLst>
          </p:nvPr>
        </p:nvGrpSpPr>
        <p:grpSpPr>
          <a:xfrm>
            <a:off x="685800" y="4933950"/>
            <a:ext cx="10820400" cy="895350"/>
            <a:chOff x="685800" y="4933950"/>
            <a:chExt cx="10820400" cy="895350"/>
          </a:xfrm>
        </p:grpSpPr>
        <p:sp>
          <p:nvSpPr>
            <p:cNvPr id="25" name="Rectangle 25"/>
            <p:cNvSpPr/>
            <p:nvPr/>
          </p:nvSpPr>
          <p:spPr>
            <a:xfrm>
              <a:off x="685800" y="4933950"/>
              <a:ext cx="10820400" cy="895350"/>
            </a:xfrm>
            <a:prstGeom prst="roundRect">
              <a:avLst>
                <a:gd name="adj" fmla="val 19149"/>
              </a:avLst>
            </a:prstGeom>
            <a:solidFill>
              <a:srgbClr val="F4F8FF"/>
            </a:solidFill>
            <a:ln w="9525">
              <a:solidFill>
                <a:srgbClr val="C9D9F2"/>
              </a:solidFill>
            </a:ln>
          </p:spPr>
        </p:sp>
        <p:sp>
          <p:nvSpPr>
            <p:cNvPr id="26" name="Ellipse 26"/>
            <p:cNvSpPr/>
            <p:nvPr>
              <p:custDataLst>
                <p:tags r:id="rId17"/>
              </p:custDataLst>
            </p:nvPr>
          </p:nvSpPr>
          <p:spPr>
            <a:xfrm>
              <a:off x="914400" y="5172075"/>
              <a:ext cx="419100" cy="419100"/>
            </a:xfrm>
            <a:prstGeom prst="ellipse">
              <a:avLst/>
            </a:prstGeom>
            <a:solidFill>
              <a:srgbClr val="002060"/>
            </a:solidFill>
            <a:ln>
              <a:noFill/>
            </a:ln>
          </p:spPr>
        </p:sp>
        <p:sp>
          <p:nvSpPr>
            <p:cNvPr id="27" name="TextBox 27"/>
            <p:cNvSpPr txBox="1"/>
            <p:nvPr>
              <p:custDataLst>
                <p:tags r:id="rId18"/>
              </p:custDataLst>
            </p:nvPr>
          </p:nvSpPr>
          <p:spPr>
            <a:xfrm>
              <a:off x="1040130" y="529590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4</a:t>
              </a:r>
              <a:endParaRPr lang="en-US" sz="150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8" name="TextBox 28"/>
            <p:cNvSpPr txBox="1"/>
            <p:nvPr>
              <p:custDataLst>
                <p:tags r:id="rId19"/>
              </p:custDataLst>
            </p:nvPr>
          </p:nvSpPr>
          <p:spPr>
            <a:xfrm>
              <a:off x="1569720" y="5110162"/>
              <a:ext cx="2508250" cy="3460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altLang="zh-CN" sz="2250" dirty="0">
                  <a:solidFill>
                    <a:srgbClr val="002060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ai</a:t>
              </a:r>
              <a:r>
                <a:rPr lang="zh-CN" altLang="en-US" sz="2250" dirty="0">
                  <a:solidFill>
                    <a:srgbClr val="002060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使用以及</a:t>
              </a:r>
              <a:r>
                <a:rPr lang="zh-CN" sz="2250" dirty="0">
                  <a:solidFill>
                    <a:srgbClr val="002060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成员分工</a:t>
              </a:r>
              <a:endParaRPr lang="zh-CN" sz="225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29" name="TextBox 29"/>
            <p:cNvSpPr txBox="1"/>
            <p:nvPr>
              <p:custDataLst>
                <p:tags r:id="rId20"/>
              </p:custDataLst>
            </p:nvPr>
          </p:nvSpPr>
          <p:spPr>
            <a:xfrm>
              <a:off x="1572768" y="5479732"/>
              <a:ext cx="445922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44546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收束本阶段汇报内容，并说明团队职责分工。</a:t>
              </a:r>
              <a:endParaRPr lang="zh-CN" sz="1650" dirty="0">
                <a:solidFill>
                  <a:srgbClr val="44546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11208106" y="6404610"/>
            <a:ext cx="1898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6B728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02</a:t>
            </a:r>
            <a:endParaRPr lang="en-US" sz="1200" dirty="0">
              <a:solidFill>
                <a:srgbClr val="6B728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457200" y="800100"/>
            <a:ext cx="11277600" cy="38100"/>
          </a:xfrm>
          <a:prstGeom prst="rect">
            <a:avLst/>
          </a:prstGeom>
          <a:solidFill>
            <a:srgbClr val="00B0F0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18160" y="209550"/>
            <a:ext cx="164592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rPr>
              <a:t>项目背景</a:t>
            </a:r>
            <a:endParaRPr lang="zh-CN" sz="3000" dirty="0">
              <a:solidFill>
                <a:srgbClr val="002060"/>
              </a:solidFill>
              <a:latin typeface="Arial" panose="020B0604020202020204"/>
              <a:ea typeface="黑体" panose="02010609060101010101" charset="-122"/>
              <a:cs typeface="Arial" panose="020B0604020202020204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22732" y="954405"/>
            <a:ext cx="10222718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44546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随着上下文长度增长，KV Cache 正在成为 LLM 推理中最突出的显存占用来源。</a:t>
            </a:r>
            <a:endParaRPr lang="zh-CN" sz="2100" dirty="0">
              <a:solidFill>
                <a:srgbClr val="44546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609600" y="1619250"/>
            <a:ext cx="4857750" cy="4267200"/>
          </a:xfrm>
          <a:prstGeom prst="roundRect">
            <a:avLst>
              <a:gd name="adj" fmla="val 4464"/>
            </a:avLst>
          </a:prstGeom>
          <a:solidFill>
            <a:srgbClr val="F4F8FF"/>
          </a:solidFill>
          <a:ln w="9525">
            <a:solidFill>
              <a:srgbClr val="C9D9F2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864870" y="1852612"/>
            <a:ext cx="1234440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rPr>
              <a:t>问题来源</a:t>
            </a:r>
            <a:endParaRPr lang="zh-CN" sz="2250" dirty="0">
              <a:solidFill>
                <a:srgbClr val="002060"/>
              </a:solidFill>
              <a:latin typeface="Arial" panose="020B0604020202020204"/>
              <a:ea typeface="黑体" panose="02010609060101010101" charset="-122"/>
              <a:cs typeface="Arial" panose="020B0604020202020204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867410" y="2415540"/>
            <a:ext cx="4495165" cy="2428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2850"/>
              </a:lnSpc>
            </a:pPr>
            <a:r>
              <a:rPr lang="zh-CN" sz="180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• LLM 推理需要保存历史 token 的 Key-Value 缓存，</a:t>
            </a:r>
            <a:r>
              <a:rPr lang="zh-CN" sz="180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以减少重复 Attention 计算。</a:t>
            </a:r>
            <a:endParaRPr lang="zh-CN" sz="1800" dirty="0">
              <a:solidFill>
                <a:srgbClr val="0F1423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l">
              <a:lnSpc>
                <a:spcPts val="2850"/>
              </a:lnSpc>
              <a:spcBef>
                <a:spcPts val="1050"/>
              </a:spcBef>
            </a:pPr>
            <a:r>
              <a:rPr lang="zh-CN" sz="180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• 当上下文从 2K、8K 增长到 16K、32K 甚至更高时，</a:t>
            </a:r>
            <a:r>
              <a:rPr lang="zh-CN" sz="180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KV Cache 会近似线性膨胀。</a:t>
            </a:r>
            <a:endParaRPr lang="zh-CN" sz="1800" dirty="0">
              <a:solidFill>
                <a:srgbClr val="0F1423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l">
              <a:lnSpc>
                <a:spcPts val="2850"/>
              </a:lnSpc>
              <a:spcBef>
                <a:spcPts val="1050"/>
              </a:spcBef>
            </a:pPr>
            <a:r>
              <a:rPr lang="zh-CN" sz="180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• 在资源受限设备上，KV Cache 会逐渐挤占模型权重、</a:t>
            </a:r>
            <a:r>
              <a:rPr lang="zh-CN" sz="180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激活与运行时调度所需要的显存预算。</a:t>
            </a:r>
            <a:endParaRPr lang="zh-CN" sz="1800" dirty="0">
              <a:solidFill>
                <a:srgbClr val="0F1423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grpSp>
        <p:nvGrpSpPr>
          <p:cNvPr id="24" name="Group 24"/>
          <p:cNvGrpSpPr/>
          <p:nvPr/>
        </p:nvGrpSpPr>
        <p:grpSpPr>
          <a:xfrm>
            <a:off x="5981700" y="1619250"/>
            <a:ext cx="5600700" cy="4678489"/>
            <a:chOff x="5981700" y="1619250"/>
            <a:chExt cx="5600700" cy="4678489"/>
          </a:xfrm>
        </p:grpSpPr>
        <p:sp>
          <p:nvSpPr>
            <p:cNvPr id="9" name="Rectangle 9"/>
            <p:cNvSpPr/>
            <p:nvPr/>
          </p:nvSpPr>
          <p:spPr>
            <a:xfrm>
              <a:off x="5981700" y="1619250"/>
              <a:ext cx="5600700" cy="4267200"/>
            </a:xfrm>
            <a:prstGeom prst="roundRect">
              <a:avLst>
                <a:gd name="adj" fmla="val 4464"/>
              </a:avLst>
            </a:prstGeom>
            <a:solidFill>
              <a:srgbClr val="FFFFFF"/>
            </a:solidFill>
            <a:ln w="9525">
              <a:solidFill>
                <a:srgbClr val="C9D9F2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294120" y="1852612"/>
              <a:ext cx="274891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rgbClr val="002060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显存压力的直观变化</a:t>
              </a:r>
              <a:endParaRPr lang="zh-CN" sz="225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11" name="Line 11"/>
            <p:cNvSpPr/>
            <p:nvPr/>
          </p:nvSpPr>
          <p:spPr>
            <a:xfrm>
              <a:off x="6724650" y="5276850"/>
              <a:ext cx="3848100" cy="9525"/>
            </a:xfrm>
            <a:custGeom>
              <a:avLst/>
              <a:gdLst/>
              <a:ahLst/>
              <a:cxnLst/>
              <a:rect l="l" t="t" r="r" b="b"/>
              <a:pathLst>
                <a:path w="3848100" h="9525">
                  <a:moveTo>
                    <a:pt x="0" y="0"/>
                  </a:moveTo>
                  <a:lnTo>
                    <a:pt x="3848100" y="0"/>
                  </a:lnTo>
                </a:path>
              </a:pathLst>
            </a:custGeom>
            <a:noFill/>
            <a:ln w="19050">
              <a:solidFill>
                <a:srgbClr val="AABEDC"/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6724650" y="2686050"/>
              <a:ext cx="9525" cy="2590800"/>
            </a:xfrm>
            <a:custGeom>
              <a:avLst/>
              <a:gdLst/>
              <a:ahLst/>
              <a:cxnLst/>
              <a:rect l="l" t="t" r="r" b="b"/>
              <a:pathLst>
                <a:path w="9525" h="2590800">
                  <a:moveTo>
                    <a:pt x="0" y="0"/>
                  </a:moveTo>
                  <a:lnTo>
                    <a:pt x="0" y="2590800"/>
                  </a:lnTo>
                </a:path>
              </a:pathLst>
            </a:custGeom>
            <a:noFill/>
            <a:ln w="19050">
              <a:solidFill>
                <a:srgbClr val="AABEDC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7162800" y="4514850"/>
              <a:ext cx="533400" cy="762000"/>
            </a:xfrm>
            <a:prstGeom prst="roundRect">
              <a:avLst>
                <a:gd name="adj" fmla="val 17857"/>
              </a:avLst>
            </a:prstGeom>
            <a:solidFill>
              <a:srgbClr val="6096E6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8096250" y="3886200"/>
              <a:ext cx="533400" cy="1390650"/>
            </a:xfrm>
            <a:prstGeom prst="roundRect">
              <a:avLst>
                <a:gd name="adj" fmla="val 17857"/>
              </a:avLst>
            </a:prstGeom>
            <a:solidFill>
              <a:srgbClr val="00B0F0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9029700" y="2971800"/>
              <a:ext cx="533400" cy="2305050"/>
            </a:xfrm>
            <a:prstGeom prst="roundRect">
              <a:avLst>
                <a:gd name="adj" fmla="val 17857"/>
              </a:avLst>
            </a:prstGeom>
            <a:solidFill>
              <a:srgbClr val="002060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9963150" y="2362200"/>
              <a:ext cx="533400" cy="2914650"/>
            </a:xfrm>
            <a:prstGeom prst="roundRect">
              <a:avLst>
                <a:gd name="adj" fmla="val 17857"/>
              </a:avLst>
            </a:prstGeom>
            <a:solidFill>
              <a:srgbClr val="002060">
                <a:alpha val="86000"/>
              </a:srgbClr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17029" y="5435918"/>
              <a:ext cx="22494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44546A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2K</a:t>
              </a:r>
              <a:endParaRPr lang="en-US" sz="1350" dirty="0">
                <a:solidFill>
                  <a:srgbClr val="44546A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250479" y="5435918"/>
              <a:ext cx="22494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44546A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8K</a:t>
              </a:r>
              <a:endParaRPr lang="en-US" sz="1350" dirty="0">
                <a:solidFill>
                  <a:srgbClr val="44546A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131122" y="5435918"/>
              <a:ext cx="3305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44546A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16K</a:t>
              </a:r>
              <a:endParaRPr lang="en-US" sz="1350" dirty="0">
                <a:solidFill>
                  <a:srgbClr val="44546A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011766" y="5435918"/>
              <a:ext cx="4361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44546A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32K+</a:t>
              </a:r>
              <a:endParaRPr lang="en-US" sz="1350" dirty="0">
                <a:solidFill>
                  <a:srgbClr val="44546A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317742" y="2578418"/>
              <a:ext cx="1954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4546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高</a:t>
              </a:r>
              <a:endParaRPr lang="zh-CN" sz="1350" dirty="0">
                <a:solidFill>
                  <a:srgbClr val="44546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298692" y="5131118"/>
              <a:ext cx="1954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4546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低</a:t>
              </a:r>
              <a:endParaRPr lang="zh-CN" sz="1350" dirty="0">
                <a:solidFill>
                  <a:srgbClr val="44546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456807" y="5975032"/>
              <a:ext cx="312648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上下文越长，缓存显存压力越大</a:t>
              </a:r>
              <a:endParaRPr 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11208106" y="6404610"/>
            <a:ext cx="1898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6B728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03</a:t>
            </a:r>
            <a:endParaRPr lang="en-US" sz="1200" dirty="0">
              <a:solidFill>
                <a:srgbClr val="6B728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457200" y="800100"/>
            <a:ext cx="11277600" cy="38100"/>
          </a:xfrm>
          <a:prstGeom prst="rect">
            <a:avLst/>
          </a:prstGeom>
          <a:solidFill>
            <a:srgbClr val="00B0F0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18160" y="209550"/>
            <a:ext cx="285750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rPr>
              <a:t>赛题任务与目标</a:t>
            </a:r>
            <a:endParaRPr lang="zh-CN" sz="3000" dirty="0">
              <a:solidFill>
                <a:srgbClr val="002060"/>
              </a:solidFill>
              <a:latin typeface="Arial" panose="020B0604020202020204"/>
              <a:ea typeface="黑体" panose="02010609060101010101" charset="-122"/>
              <a:cs typeface="Arial" panose="020B0604020202020204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22732" y="954405"/>
            <a:ext cx="6134100" cy="3225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44546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关注围绕监控、迁移、分配与透明集成形成系统方案</a:t>
            </a:r>
            <a:endParaRPr lang="zh-CN" sz="2100" dirty="0">
              <a:solidFill>
                <a:srgbClr val="44546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grpSp>
        <p:nvGrpSpPr>
          <p:cNvPr id="10" name="Group 10"/>
          <p:cNvGrpSpPr/>
          <p:nvPr>
            <p:custDataLst>
              <p:tags r:id="rId1"/>
            </p:custDataLst>
          </p:nvPr>
        </p:nvGrpSpPr>
        <p:grpSpPr>
          <a:xfrm>
            <a:off x="685800" y="1619250"/>
            <a:ext cx="5143500" cy="1809750"/>
            <a:chOff x="685800" y="1619250"/>
            <a:chExt cx="5143500" cy="1809750"/>
          </a:xfrm>
        </p:grpSpPr>
        <p:sp>
          <p:nvSpPr>
            <p:cNvPr id="6" name="Rectangle 6"/>
            <p:cNvSpPr/>
            <p:nvPr>
              <p:custDataLst>
                <p:tags r:id="rId2"/>
              </p:custDataLst>
            </p:nvPr>
          </p:nvSpPr>
          <p:spPr>
            <a:xfrm>
              <a:off x="685800" y="1619250"/>
              <a:ext cx="5143500" cy="1809750"/>
            </a:xfrm>
            <a:prstGeom prst="roundRect">
              <a:avLst>
                <a:gd name="adj" fmla="val 9474"/>
              </a:avLst>
            </a:prstGeom>
            <a:solidFill>
              <a:srgbClr val="F4F8FF"/>
            </a:solidFill>
            <a:ln w="9525">
              <a:solidFill>
                <a:srgbClr val="C9D9F2"/>
              </a:solidFill>
            </a:ln>
          </p:spPr>
        </p:sp>
        <p:sp>
          <p:nvSpPr>
            <p:cNvPr id="7" name="TextBox 7"/>
            <p:cNvSpPr txBox="1"/>
            <p:nvPr>
              <p:custDataLst>
                <p:tags r:id="rId3"/>
              </p:custDataLst>
            </p:nvPr>
          </p:nvSpPr>
          <p:spPr>
            <a:xfrm>
              <a:off x="982218" y="1860232"/>
              <a:ext cx="71645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0B0F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任务一</a:t>
              </a:r>
              <a:endParaRPr lang="zh-CN" sz="1650" b="1" dirty="0">
                <a:solidFill>
                  <a:srgbClr val="00B0F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8" name="TextBox 8"/>
            <p:cNvSpPr txBox="1"/>
            <p:nvPr>
              <p:custDataLst>
                <p:tags r:id="rId4"/>
              </p:custDataLst>
            </p:nvPr>
          </p:nvSpPr>
          <p:spPr>
            <a:xfrm>
              <a:off x="979932" y="2173605"/>
              <a:ext cx="369646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002060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监控访问模式，定义块级热度</a:t>
              </a:r>
              <a:endParaRPr lang="zh-CN" sz="210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9" name="TextBox 9"/>
            <p:cNvSpPr txBox="1"/>
            <p:nvPr>
              <p:custDataLst>
                <p:tags r:id="rId5"/>
              </p:custDataLst>
            </p:nvPr>
          </p:nvSpPr>
          <p:spPr>
            <a:xfrm>
              <a:off x="982218" y="2717482"/>
              <a:ext cx="3736276" cy="64655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550"/>
                </a:lnSpc>
              </a:pPr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观察访问频率、最近访问时间等信号，</a:t>
              </a:r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为 KV Cache 的冷热分层提供基础依据。</a:t>
              </a:r>
              <a:endParaRPr 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5" name="Group 15"/>
          <p:cNvGrpSpPr/>
          <p:nvPr>
            <p:custDataLst>
              <p:tags r:id="rId6"/>
            </p:custDataLst>
          </p:nvPr>
        </p:nvGrpSpPr>
        <p:grpSpPr>
          <a:xfrm>
            <a:off x="6362700" y="1619250"/>
            <a:ext cx="5143500" cy="1809750"/>
            <a:chOff x="6362700" y="1619250"/>
            <a:chExt cx="5143500" cy="1809750"/>
          </a:xfrm>
        </p:grpSpPr>
        <p:sp>
          <p:nvSpPr>
            <p:cNvPr id="11" name="Rectangle 11"/>
            <p:cNvSpPr/>
            <p:nvPr>
              <p:custDataLst>
                <p:tags r:id="rId7"/>
              </p:custDataLst>
            </p:nvPr>
          </p:nvSpPr>
          <p:spPr>
            <a:xfrm>
              <a:off x="6362700" y="1619250"/>
              <a:ext cx="5143500" cy="1809750"/>
            </a:xfrm>
            <a:prstGeom prst="roundRect">
              <a:avLst>
                <a:gd name="adj" fmla="val 9474"/>
              </a:avLst>
            </a:prstGeom>
            <a:solidFill>
              <a:srgbClr val="F4F8FF"/>
            </a:solidFill>
            <a:ln w="9525">
              <a:solidFill>
                <a:srgbClr val="C9D9F2"/>
              </a:solidFill>
            </a:ln>
          </p:spPr>
        </p:sp>
        <p:sp>
          <p:nvSpPr>
            <p:cNvPr id="12" name="TextBox 12"/>
            <p:cNvSpPr txBox="1"/>
            <p:nvPr>
              <p:custDataLst>
                <p:tags r:id="rId8"/>
              </p:custDataLst>
            </p:nvPr>
          </p:nvSpPr>
          <p:spPr>
            <a:xfrm>
              <a:off x="6659118" y="1860232"/>
              <a:ext cx="71645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0B0F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任务二</a:t>
              </a:r>
              <a:endParaRPr lang="zh-CN" sz="1650" b="1" dirty="0">
                <a:solidFill>
                  <a:srgbClr val="00B0F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3" name="TextBox 13"/>
            <p:cNvSpPr txBox="1"/>
            <p:nvPr>
              <p:custDataLst>
                <p:tags r:id="rId9"/>
              </p:custDataLst>
            </p:nvPr>
          </p:nvSpPr>
          <p:spPr>
            <a:xfrm>
              <a:off x="6656832" y="2173605"/>
              <a:ext cx="397916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002060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热留显存，温迁内存，冷迁外存</a:t>
              </a:r>
              <a:endParaRPr lang="zh-CN" sz="210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14" name="TextBox 14"/>
            <p:cNvSpPr txBox="1"/>
            <p:nvPr>
              <p:custDataLst>
                <p:tags r:id="rId10"/>
              </p:custDataLst>
            </p:nvPr>
          </p:nvSpPr>
          <p:spPr>
            <a:xfrm>
              <a:off x="6659118" y="2717482"/>
              <a:ext cx="3484816" cy="64655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550"/>
                </a:lnSpc>
              </a:pPr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根据访问行为在 GPU、CPU、SSD 之间</a:t>
              </a:r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组织动态迁移与命中后回填。</a:t>
              </a:r>
              <a:endParaRPr 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0" name="Group 20"/>
          <p:cNvGrpSpPr/>
          <p:nvPr>
            <p:custDataLst>
              <p:tags r:id="rId11"/>
            </p:custDataLst>
          </p:nvPr>
        </p:nvGrpSpPr>
        <p:grpSpPr>
          <a:xfrm>
            <a:off x="685800" y="3714750"/>
            <a:ext cx="5143500" cy="1809750"/>
            <a:chOff x="685800" y="3714750"/>
            <a:chExt cx="5143500" cy="1809750"/>
          </a:xfrm>
        </p:grpSpPr>
        <p:sp>
          <p:nvSpPr>
            <p:cNvPr id="16" name="Rectangle 16"/>
            <p:cNvSpPr/>
            <p:nvPr>
              <p:custDataLst>
                <p:tags r:id="rId12"/>
              </p:custDataLst>
            </p:nvPr>
          </p:nvSpPr>
          <p:spPr>
            <a:xfrm>
              <a:off x="685800" y="3714750"/>
              <a:ext cx="5143500" cy="1809750"/>
            </a:xfrm>
            <a:prstGeom prst="roundRect">
              <a:avLst>
                <a:gd name="adj" fmla="val 9474"/>
              </a:avLst>
            </a:prstGeom>
            <a:solidFill>
              <a:srgbClr val="F4F8FF"/>
            </a:solidFill>
            <a:ln w="9525">
              <a:solidFill>
                <a:srgbClr val="C9D9F2"/>
              </a:solidFill>
            </a:ln>
          </p:spPr>
        </p:sp>
        <p:sp>
          <p:nvSpPr>
            <p:cNvPr id="17" name="TextBox 17"/>
            <p:cNvSpPr txBox="1"/>
            <p:nvPr>
              <p:custDataLst>
                <p:tags r:id="rId13"/>
              </p:custDataLst>
            </p:nvPr>
          </p:nvSpPr>
          <p:spPr>
            <a:xfrm>
              <a:off x="982218" y="3955732"/>
              <a:ext cx="71645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0B0F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任务三</a:t>
              </a:r>
              <a:endParaRPr lang="zh-CN" sz="1650" b="1" dirty="0">
                <a:solidFill>
                  <a:srgbClr val="00B0F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8" name="TextBox 18"/>
            <p:cNvSpPr txBox="1"/>
            <p:nvPr>
              <p:custDataLst>
                <p:tags r:id="rId14"/>
              </p:custDataLst>
            </p:nvPr>
          </p:nvSpPr>
          <p:spPr>
            <a:xfrm>
              <a:off x="979932" y="4269105"/>
              <a:ext cx="369646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002060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设计块级存储分配与碎片控制</a:t>
              </a:r>
              <a:endParaRPr lang="zh-CN" sz="210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19" name="TextBox 19"/>
            <p:cNvSpPr txBox="1"/>
            <p:nvPr>
              <p:custDataLst>
                <p:tags r:id="rId15"/>
              </p:custDataLst>
            </p:nvPr>
          </p:nvSpPr>
          <p:spPr>
            <a:xfrm>
              <a:off x="982218" y="4812982"/>
              <a:ext cx="3809619" cy="64655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550"/>
                </a:lnSpc>
              </a:pPr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以 block 为单位组织存储，减少动态增长</a:t>
              </a:r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带来的显存和内存碎片问题。</a:t>
              </a:r>
              <a:endParaRPr 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5" name="Group 25"/>
          <p:cNvGrpSpPr/>
          <p:nvPr>
            <p:custDataLst>
              <p:tags r:id="rId16"/>
            </p:custDataLst>
          </p:nvPr>
        </p:nvGrpSpPr>
        <p:grpSpPr>
          <a:xfrm>
            <a:off x="6362700" y="3714750"/>
            <a:ext cx="5143500" cy="1809750"/>
            <a:chOff x="6362700" y="3714750"/>
            <a:chExt cx="5143500" cy="1809750"/>
          </a:xfrm>
        </p:grpSpPr>
        <p:sp>
          <p:nvSpPr>
            <p:cNvPr id="21" name="Rectangle 21"/>
            <p:cNvSpPr/>
            <p:nvPr>
              <p:custDataLst>
                <p:tags r:id="rId17"/>
              </p:custDataLst>
            </p:nvPr>
          </p:nvSpPr>
          <p:spPr>
            <a:xfrm>
              <a:off x="6362700" y="3714750"/>
              <a:ext cx="5143500" cy="1809750"/>
            </a:xfrm>
            <a:prstGeom prst="roundRect">
              <a:avLst>
                <a:gd name="adj" fmla="val 9474"/>
              </a:avLst>
            </a:prstGeom>
            <a:solidFill>
              <a:srgbClr val="F4F8FF"/>
            </a:solidFill>
            <a:ln w="9525">
              <a:solidFill>
                <a:srgbClr val="C9D9F2"/>
              </a:solidFill>
            </a:ln>
          </p:spPr>
        </p:sp>
        <p:sp>
          <p:nvSpPr>
            <p:cNvPr id="22" name="TextBox 22"/>
            <p:cNvSpPr txBox="1"/>
            <p:nvPr>
              <p:custDataLst>
                <p:tags r:id="rId18"/>
              </p:custDataLst>
            </p:nvPr>
          </p:nvSpPr>
          <p:spPr>
            <a:xfrm>
              <a:off x="6659118" y="3955732"/>
              <a:ext cx="48322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0B0F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目标</a:t>
              </a:r>
              <a:endParaRPr lang="zh-CN" sz="1650" b="1" dirty="0">
                <a:solidFill>
                  <a:srgbClr val="00B0F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3" name="TextBox 23"/>
            <p:cNvSpPr txBox="1"/>
            <p:nvPr>
              <p:custDataLst>
                <p:tags r:id="rId19"/>
              </p:custDataLst>
            </p:nvPr>
          </p:nvSpPr>
          <p:spPr>
            <a:xfrm>
              <a:off x="6656832" y="4269105"/>
              <a:ext cx="454456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002060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尽量少改框架，提升吞吐并降低等待</a:t>
              </a:r>
              <a:endParaRPr lang="zh-CN" sz="210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24" name="TextBox 24"/>
            <p:cNvSpPr txBox="1"/>
            <p:nvPr>
              <p:custDataLst>
                <p:tags r:id="rId20"/>
              </p:custDataLst>
            </p:nvPr>
          </p:nvSpPr>
          <p:spPr>
            <a:xfrm>
              <a:off x="6659118" y="4812982"/>
              <a:ext cx="3631502" cy="64655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550"/>
                </a:lnSpc>
              </a:pPr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在尽量透明集成的前提下，支持更长</a:t>
              </a:r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上下文，并减少 GPU 等待迁移的时间。</a:t>
              </a:r>
              <a:endParaRPr 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11208106" y="6404610"/>
            <a:ext cx="1898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6B728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04</a:t>
            </a:r>
            <a:endParaRPr lang="en-US" sz="1200" dirty="0">
              <a:solidFill>
                <a:srgbClr val="6B728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457200" y="800100"/>
            <a:ext cx="11277600" cy="38100"/>
          </a:xfrm>
          <a:prstGeom prst="rect">
            <a:avLst/>
          </a:prstGeom>
          <a:solidFill>
            <a:srgbClr val="00B0F0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18160" y="209550"/>
            <a:ext cx="164592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rPr>
              <a:t>总体思路</a:t>
            </a:r>
            <a:endParaRPr lang="zh-CN" sz="3000" dirty="0">
              <a:solidFill>
                <a:srgbClr val="002060"/>
              </a:solidFill>
              <a:latin typeface="Arial" panose="020B0604020202020204"/>
              <a:ea typeface="黑体" panose="02010609060101010101" charset="-122"/>
              <a:cs typeface="Arial" panose="020B0604020202020204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18160" y="982345"/>
            <a:ext cx="11251565" cy="64579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44546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本项目以分层 KV Cache 为主线，在 vLLM 推理流程中实现可接入、可迁移、可复用、可验证的缓存管理能力。</a:t>
            </a:r>
            <a:endParaRPr lang="zh-CN" sz="2100" dirty="0">
              <a:solidFill>
                <a:srgbClr val="44546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990600" y="1771650"/>
            <a:ext cx="10210800" cy="1143000"/>
          </a:xfrm>
          <a:prstGeom prst="roundRect">
            <a:avLst>
              <a:gd name="adj" fmla="val 20000"/>
            </a:avLst>
          </a:prstGeom>
          <a:solidFill>
            <a:srgbClr val="002060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167765" y="1958975"/>
            <a:ext cx="9952990" cy="7842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l"/>
            <a:r>
              <a:rPr lang="zh-CN" sz="2550" dirty="0">
                <a:solidFill>
                  <a:srgbClr val="FFFFFF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rPr>
              <a:t>用最少侵入的接入方式，把 KV 数据组织成可管理、可迁移、可复用的分层系统</a:t>
            </a:r>
            <a:endParaRPr lang="zh-CN" sz="2550" dirty="0">
              <a:solidFill>
                <a:srgbClr val="FFFFFF"/>
              </a:solidFill>
              <a:latin typeface="Arial" panose="020B0604020202020204"/>
              <a:ea typeface="黑体" panose="02010609060101010101" charset="-122"/>
              <a:cs typeface="Arial" panose="020B0604020202020204"/>
            </a:endParaRPr>
          </a:p>
        </p:txBody>
      </p:sp>
      <p:grpSp>
        <p:nvGrpSpPr>
          <p:cNvPr id="11" name="Group 11"/>
          <p:cNvGrpSpPr/>
          <p:nvPr>
            <p:custDataLst>
              <p:tags r:id="rId1"/>
            </p:custDataLst>
          </p:nvPr>
        </p:nvGrpSpPr>
        <p:grpSpPr>
          <a:xfrm>
            <a:off x="990600" y="3314700"/>
            <a:ext cx="2933700" cy="2171700"/>
            <a:chOff x="990600" y="3314700"/>
            <a:chExt cx="2933700" cy="2171700"/>
          </a:xfrm>
        </p:grpSpPr>
        <p:sp>
          <p:nvSpPr>
            <p:cNvPr id="8" name="Rectangle 8"/>
            <p:cNvSpPr/>
            <p:nvPr>
              <p:custDataLst>
                <p:tags r:id="rId2"/>
              </p:custDataLst>
            </p:nvPr>
          </p:nvSpPr>
          <p:spPr>
            <a:xfrm>
              <a:off x="990600" y="3314700"/>
              <a:ext cx="2933700" cy="2171700"/>
            </a:xfrm>
            <a:prstGeom prst="roundRect">
              <a:avLst>
                <a:gd name="adj" fmla="val 8772"/>
              </a:avLst>
            </a:prstGeom>
            <a:solidFill>
              <a:srgbClr val="F4F8FF"/>
            </a:solidFill>
            <a:ln w="9525">
              <a:solidFill>
                <a:srgbClr val="C9D9F2"/>
              </a:solidFill>
            </a:ln>
          </p:spPr>
        </p:sp>
        <p:sp>
          <p:nvSpPr>
            <p:cNvPr id="9" name="TextBox 9"/>
            <p:cNvSpPr txBox="1"/>
            <p:nvPr>
              <p:custDataLst>
                <p:tags r:id="rId3"/>
              </p:custDataLst>
            </p:nvPr>
          </p:nvSpPr>
          <p:spPr>
            <a:xfrm>
              <a:off x="1283970" y="3529012"/>
              <a:ext cx="123444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rgbClr val="002060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接入层面</a:t>
              </a:r>
              <a:endParaRPr lang="zh-CN" sz="225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10" name="TextBox 10"/>
            <p:cNvSpPr txBox="1"/>
            <p:nvPr>
              <p:custDataLst>
                <p:tags r:id="rId4"/>
              </p:custDataLst>
            </p:nvPr>
          </p:nvSpPr>
          <p:spPr>
            <a:xfrm>
              <a:off x="1286637" y="4061936"/>
              <a:ext cx="2591657" cy="98507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550"/>
                </a:lnSpc>
              </a:pPr>
              <a:r>
                <a:rPr lang="zh-CN" sz="172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以 vLLM V1 KV connector</a:t>
              </a:r>
              <a:r>
                <a:rPr lang="zh-CN" sz="172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为入口，尽量减少</a:t>
              </a:r>
              <a:r>
                <a:rPr lang="zh-CN" sz="172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对原推理框架的侵入。</a:t>
              </a:r>
              <a:endParaRPr lang="zh-CN" sz="172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5" name="Group 15"/>
          <p:cNvGrpSpPr/>
          <p:nvPr>
            <p:custDataLst>
              <p:tags r:id="rId5"/>
            </p:custDataLst>
          </p:nvPr>
        </p:nvGrpSpPr>
        <p:grpSpPr>
          <a:xfrm>
            <a:off x="4629150" y="3314700"/>
            <a:ext cx="2933700" cy="2171700"/>
            <a:chOff x="4629150" y="3314700"/>
            <a:chExt cx="2933700" cy="2171700"/>
          </a:xfrm>
        </p:grpSpPr>
        <p:sp>
          <p:nvSpPr>
            <p:cNvPr id="12" name="Rectangle 12"/>
            <p:cNvSpPr/>
            <p:nvPr>
              <p:custDataLst>
                <p:tags r:id="rId6"/>
              </p:custDataLst>
            </p:nvPr>
          </p:nvSpPr>
          <p:spPr>
            <a:xfrm>
              <a:off x="4629150" y="3314700"/>
              <a:ext cx="2933700" cy="2171700"/>
            </a:xfrm>
            <a:prstGeom prst="roundRect">
              <a:avLst>
                <a:gd name="adj" fmla="val 8772"/>
              </a:avLst>
            </a:prstGeom>
            <a:solidFill>
              <a:srgbClr val="F4F8FF"/>
            </a:solidFill>
            <a:ln w="9525">
              <a:solidFill>
                <a:srgbClr val="C9D9F2"/>
              </a:solidFill>
            </a:ln>
          </p:spPr>
        </p:sp>
        <p:sp>
          <p:nvSpPr>
            <p:cNvPr id="13" name="TextBox 13"/>
            <p:cNvSpPr txBox="1"/>
            <p:nvPr>
              <p:custDataLst>
                <p:tags r:id="rId7"/>
              </p:custDataLst>
            </p:nvPr>
          </p:nvSpPr>
          <p:spPr>
            <a:xfrm>
              <a:off x="4922520" y="3529012"/>
              <a:ext cx="123444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rgbClr val="002060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体系层面</a:t>
              </a:r>
              <a:endParaRPr lang="zh-CN" sz="225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14" name="TextBox 14"/>
            <p:cNvSpPr txBox="1"/>
            <p:nvPr>
              <p:custDataLst>
                <p:tags r:id="rId8"/>
              </p:custDataLst>
            </p:nvPr>
          </p:nvSpPr>
          <p:spPr>
            <a:xfrm>
              <a:off x="4925187" y="4061936"/>
              <a:ext cx="2427351" cy="98507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550"/>
                </a:lnSpc>
              </a:pPr>
              <a:r>
                <a:rPr lang="zh-CN" sz="172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围绕 GPU、CPU、SSD</a:t>
              </a:r>
              <a:r>
                <a:rPr lang="zh-CN" sz="172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三层缓存路径组织数据的</a:t>
              </a:r>
              <a:r>
                <a:rPr lang="zh-CN" sz="172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下沉、回填与复用。</a:t>
              </a:r>
              <a:endParaRPr lang="zh-CN" sz="172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9" name="Group 19"/>
          <p:cNvGrpSpPr/>
          <p:nvPr>
            <p:custDataLst>
              <p:tags r:id="rId9"/>
            </p:custDataLst>
          </p:nvPr>
        </p:nvGrpSpPr>
        <p:grpSpPr>
          <a:xfrm>
            <a:off x="8267700" y="3314700"/>
            <a:ext cx="2933700" cy="2171700"/>
            <a:chOff x="8267700" y="3314700"/>
            <a:chExt cx="2933700" cy="2171700"/>
          </a:xfrm>
        </p:grpSpPr>
        <p:sp>
          <p:nvSpPr>
            <p:cNvPr id="16" name="Rectangle 16"/>
            <p:cNvSpPr/>
            <p:nvPr>
              <p:custDataLst>
                <p:tags r:id="rId10"/>
              </p:custDataLst>
            </p:nvPr>
          </p:nvSpPr>
          <p:spPr>
            <a:xfrm>
              <a:off x="8267700" y="3314700"/>
              <a:ext cx="2933700" cy="2171700"/>
            </a:xfrm>
            <a:prstGeom prst="roundRect">
              <a:avLst>
                <a:gd name="adj" fmla="val 8772"/>
              </a:avLst>
            </a:prstGeom>
            <a:solidFill>
              <a:srgbClr val="F4F8FF"/>
            </a:solidFill>
            <a:ln w="9525">
              <a:solidFill>
                <a:srgbClr val="C9D9F2"/>
              </a:solidFill>
            </a:ln>
          </p:spPr>
        </p:sp>
        <p:sp>
          <p:nvSpPr>
            <p:cNvPr id="17" name="TextBox 17"/>
            <p:cNvSpPr txBox="1"/>
            <p:nvPr>
              <p:custDataLst>
                <p:tags r:id="rId11"/>
              </p:custDataLst>
            </p:nvPr>
          </p:nvSpPr>
          <p:spPr>
            <a:xfrm>
              <a:off x="8561070" y="3529012"/>
              <a:ext cx="123444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rgbClr val="002060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验证层面</a:t>
              </a:r>
              <a:endParaRPr lang="zh-CN" sz="225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18" name="TextBox 18"/>
            <p:cNvSpPr txBox="1"/>
            <p:nvPr>
              <p:custDataLst>
                <p:tags r:id="rId12"/>
              </p:custDataLst>
            </p:nvPr>
          </p:nvSpPr>
          <p:spPr>
            <a:xfrm>
              <a:off x="8554847" y="4061936"/>
              <a:ext cx="2646426" cy="98507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550"/>
                </a:lnSpc>
              </a:pPr>
              <a:r>
                <a:rPr lang="zh-CN" sz="172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从正确性、长上下文</a:t>
              </a:r>
              <a:r>
                <a:rPr lang="zh-CN" sz="172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加速、超容量场景和</a:t>
              </a:r>
              <a:r>
                <a:rPr lang="zh-CN" sz="172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混合负载表现建立证据链。</a:t>
              </a:r>
              <a:endParaRPr lang="zh-CN" sz="172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1208106" y="6404610"/>
            <a:ext cx="1898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6B728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05</a:t>
            </a:r>
            <a:endParaRPr lang="en-US" sz="1200" dirty="0">
              <a:solidFill>
                <a:srgbClr val="6B728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1905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457200" y="800100"/>
            <a:ext cx="11277600" cy="38100"/>
          </a:xfrm>
          <a:prstGeom prst="rect">
            <a:avLst/>
          </a:prstGeom>
          <a:solidFill>
            <a:srgbClr val="00B0F0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18160" y="209550"/>
            <a:ext cx="245364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rPr>
              <a:t>总体架构设计</a:t>
            </a:r>
            <a:endParaRPr lang="zh-CN" sz="3000" dirty="0">
              <a:solidFill>
                <a:srgbClr val="002060"/>
              </a:solidFill>
              <a:latin typeface="Arial" panose="020B0604020202020204"/>
              <a:ea typeface="黑体" panose="02010609060101010101" charset="-122"/>
              <a:cs typeface="Arial" panose="020B0604020202020204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22732" y="954405"/>
            <a:ext cx="10790415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44546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MiniFlexKV 把接入、调度、缓存、存储和传输拆成清晰分层，以保持系统边界可控。</a:t>
            </a:r>
            <a:endParaRPr lang="zh-CN" sz="2100" dirty="0">
              <a:solidFill>
                <a:srgbClr val="44546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grpSp>
        <p:nvGrpSpPr>
          <p:cNvPr id="8" name="Group 8"/>
          <p:cNvGrpSpPr/>
          <p:nvPr/>
        </p:nvGrpSpPr>
        <p:grpSpPr>
          <a:xfrm>
            <a:off x="1600200" y="1714500"/>
            <a:ext cx="8991600" cy="723900"/>
            <a:chOff x="1600200" y="1714500"/>
            <a:chExt cx="8991600" cy="723900"/>
          </a:xfrm>
        </p:grpSpPr>
        <p:sp>
          <p:nvSpPr>
            <p:cNvPr id="6" name="Rectangle 6"/>
            <p:cNvSpPr/>
            <p:nvPr/>
          </p:nvSpPr>
          <p:spPr>
            <a:xfrm>
              <a:off x="1600200" y="1714500"/>
              <a:ext cx="8991600" cy="723900"/>
            </a:xfrm>
            <a:prstGeom prst="roundRect">
              <a:avLst>
                <a:gd name="adj" fmla="val 26316"/>
              </a:avLst>
            </a:prstGeom>
            <a:solidFill>
              <a:srgbClr val="002060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4048408" y="1912620"/>
              <a:ext cx="409518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dirty="0">
                  <a:solidFill>
                    <a:srgbClr val="FFFFFF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vLLM V1 Connector 接入层</a:t>
              </a:r>
              <a:endParaRPr lang="zh-CN" sz="2400" dirty="0">
                <a:solidFill>
                  <a:srgbClr val="FFFFFF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600200" y="2705100"/>
            <a:ext cx="4305300" cy="914400"/>
            <a:chOff x="1600200" y="2705100"/>
            <a:chExt cx="4305300" cy="914400"/>
          </a:xfrm>
        </p:grpSpPr>
        <p:sp>
          <p:nvSpPr>
            <p:cNvPr id="9" name="Rectangle 9"/>
            <p:cNvSpPr/>
            <p:nvPr/>
          </p:nvSpPr>
          <p:spPr>
            <a:xfrm>
              <a:off x="1600200" y="2705100"/>
              <a:ext cx="4305300" cy="914400"/>
            </a:xfrm>
            <a:prstGeom prst="roundRect">
              <a:avLst>
                <a:gd name="adj" fmla="val 18750"/>
              </a:avLst>
            </a:prstGeom>
            <a:solidFill>
              <a:srgbClr val="F4F8FF"/>
            </a:solidFill>
            <a:ln w="19050">
              <a:solidFill>
                <a:srgbClr val="6096E6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2225040" y="2900362"/>
              <a:ext cx="305562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dirty="0">
                  <a:solidFill>
                    <a:srgbClr val="002060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Scheduler Connector</a:t>
              </a:r>
              <a:endParaRPr lang="en-US" sz="2250" dirty="0">
                <a:solidFill>
                  <a:srgbClr val="002060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533650" y="326707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44546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匹配、任务生成、状态轮询</a:t>
              </a:r>
              <a:endParaRPr lang="zh-CN" sz="1500" dirty="0">
                <a:solidFill>
                  <a:srgbClr val="44546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286500" y="2705100"/>
            <a:ext cx="4305300" cy="914400"/>
            <a:chOff x="6286500" y="2705100"/>
            <a:chExt cx="4305300" cy="914400"/>
          </a:xfrm>
        </p:grpSpPr>
        <p:sp>
          <p:nvSpPr>
            <p:cNvPr id="13" name="Rectangle 13"/>
            <p:cNvSpPr/>
            <p:nvPr/>
          </p:nvSpPr>
          <p:spPr>
            <a:xfrm>
              <a:off x="6286500" y="2705100"/>
              <a:ext cx="4305300" cy="914400"/>
            </a:xfrm>
            <a:prstGeom prst="roundRect">
              <a:avLst>
                <a:gd name="adj" fmla="val 18750"/>
              </a:avLst>
            </a:prstGeom>
            <a:solidFill>
              <a:srgbClr val="F4F8FF"/>
            </a:solidFill>
            <a:ln w="19050">
              <a:solidFill>
                <a:srgbClr val="6096E6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092553" y="2900362"/>
              <a:ext cx="269319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dirty="0">
                  <a:solidFill>
                    <a:srgbClr val="002060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Worker Connector</a:t>
              </a:r>
              <a:endParaRPr lang="en-US" sz="2250" dirty="0">
                <a:solidFill>
                  <a:srgbClr val="002060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728841" y="3267075"/>
              <a:ext cx="342061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44546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注册 GPU KV cache，承接执行端交互</a:t>
              </a:r>
              <a:endParaRPr lang="zh-CN" sz="1500" dirty="0">
                <a:solidFill>
                  <a:srgbClr val="44546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2362200" y="4000500"/>
            <a:ext cx="7467600" cy="827405"/>
            <a:chOff x="2362200" y="4000500"/>
            <a:chExt cx="7467600" cy="827405"/>
          </a:xfrm>
        </p:grpSpPr>
        <p:sp>
          <p:nvSpPr>
            <p:cNvPr id="17" name="Rectangle 17"/>
            <p:cNvSpPr/>
            <p:nvPr/>
          </p:nvSpPr>
          <p:spPr>
            <a:xfrm>
              <a:off x="2362200" y="4000500"/>
              <a:ext cx="7467600" cy="800100"/>
            </a:xfrm>
            <a:prstGeom prst="roundRect">
              <a:avLst>
                <a:gd name="adj" fmla="val 21429"/>
              </a:avLst>
            </a:prstGeom>
            <a:solidFill>
              <a:srgbClr val="00B0F0">
                <a:alpha val="12000"/>
              </a:srgbClr>
            </a:solidFill>
            <a:ln w="19050">
              <a:solidFill>
                <a:srgbClr val="00B0F0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3794838" y="4184967"/>
              <a:ext cx="460232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dirty="0">
                  <a:solidFill>
                    <a:srgbClr val="002060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KVTaskEngine / KVTaskManager</a:t>
              </a:r>
              <a:endParaRPr lang="en-US" sz="2250" dirty="0">
                <a:solidFill>
                  <a:srgbClr val="002060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573905" y="4534535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44546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连接逻辑缓存规划与物理传输执行</a:t>
              </a:r>
              <a:endParaRPr lang="zh-CN" sz="1500" dirty="0">
                <a:solidFill>
                  <a:srgbClr val="44546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059180" y="5181600"/>
            <a:ext cx="3044190" cy="1028700"/>
            <a:chOff x="1059180" y="5181600"/>
            <a:chExt cx="3044190" cy="1028700"/>
          </a:xfrm>
        </p:grpSpPr>
        <p:sp>
          <p:nvSpPr>
            <p:cNvPr id="21" name="Rectangle 21"/>
            <p:cNvSpPr/>
            <p:nvPr/>
          </p:nvSpPr>
          <p:spPr>
            <a:xfrm>
              <a:off x="1104900" y="5181600"/>
              <a:ext cx="2952750" cy="1028700"/>
            </a:xfrm>
            <a:prstGeom prst="roundRect">
              <a:avLst>
                <a:gd name="adj" fmla="val 16667"/>
              </a:avLst>
            </a:prstGeom>
            <a:solidFill>
              <a:srgbClr val="F4F8FF"/>
            </a:solidFill>
            <a:ln w="9525">
              <a:solidFill>
                <a:srgbClr val="C9D9F2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699492" y="5393055"/>
              <a:ext cx="176356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dirty="0">
                  <a:solidFill>
                    <a:srgbClr val="002060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Cache Engine</a:t>
              </a:r>
              <a:endParaRPr lang="en-US" sz="2100" dirty="0">
                <a:solidFill>
                  <a:srgbClr val="002060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59180" y="5743575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44546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块级匹配、分配、淘汰与层间逻辑</a:t>
              </a:r>
              <a:endParaRPr lang="zh-CN" sz="1500" dirty="0">
                <a:solidFill>
                  <a:srgbClr val="44546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4619625" y="5181600"/>
            <a:ext cx="2952750" cy="1028700"/>
            <a:chOff x="4619625" y="5181600"/>
            <a:chExt cx="2952750" cy="1028700"/>
          </a:xfrm>
        </p:grpSpPr>
        <p:sp>
          <p:nvSpPr>
            <p:cNvPr id="25" name="Rectangle 25"/>
            <p:cNvSpPr/>
            <p:nvPr/>
          </p:nvSpPr>
          <p:spPr>
            <a:xfrm>
              <a:off x="4619625" y="5181600"/>
              <a:ext cx="2952750" cy="1028700"/>
            </a:xfrm>
            <a:prstGeom prst="roundRect">
              <a:avLst>
                <a:gd name="adj" fmla="val 16667"/>
              </a:avLst>
            </a:prstGeom>
            <a:solidFill>
              <a:srgbClr val="F4F8FF"/>
            </a:solidFill>
            <a:ln w="9525">
              <a:solidFill>
                <a:srgbClr val="C9D9F2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058742" y="5393055"/>
              <a:ext cx="207451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dirty="0">
                  <a:solidFill>
                    <a:srgbClr val="002060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Storage Engine</a:t>
              </a:r>
              <a:endParaRPr lang="en-US" sz="2100" dirty="0">
                <a:solidFill>
                  <a:srgbClr val="002060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642866" y="5743575"/>
              <a:ext cx="290626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44546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GPU / CPU / SSD 三类物理句柄</a:t>
              </a:r>
              <a:endParaRPr lang="zh-CN" sz="1500" dirty="0">
                <a:solidFill>
                  <a:srgbClr val="44546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7986903" y="5181600"/>
            <a:ext cx="3247644" cy="1028700"/>
            <a:chOff x="7986903" y="5181600"/>
            <a:chExt cx="3247644" cy="1028700"/>
          </a:xfrm>
        </p:grpSpPr>
        <p:sp>
          <p:nvSpPr>
            <p:cNvPr id="29" name="Rectangle 29"/>
            <p:cNvSpPr/>
            <p:nvPr/>
          </p:nvSpPr>
          <p:spPr>
            <a:xfrm>
              <a:off x="8002143" y="5181600"/>
              <a:ext cx="3217545" cy="1028700"/>
            </a:xfrm>
            <a:prstGeom prst="roundRect">
              <a:avLst>
                <a:gd name="adj" fmla="val 16667"/>
              </a:avLst>
            </a:prstGeom>
            <a:solidFill>
              <a:srgbClr val="F4F8FF"/>
            </a:solidFill>
            <a:ln w="9525">
              <a:solidFill>
                <a:srgbClr val="C9D9F2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495728" y="5393055"/>
              <a:ext cx="222999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dirty="0">
                  <a:solidFill>
                    <a:srgbClr val="002060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Transfer Engine</a:t>
              </a:r>
              <a:endParaRPr lang="en-US" sz="2100" dirty="0">
                <a:solidFill>
                  <a:srgbClr val="002060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986903" y="5743575"/>
              <a:ext cx="324764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44546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组织 D2H / H2D / H2DISK / DISK2H</a:t>
              </a:r>
              <a:endParaRPr lang="zh-CN" sz="1500" dirty="0">
                <a:solidFill>
                  <a:srgbClr val="44546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11208106" y="6404610"/>
            <a:ext cx="1898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6B728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06</a:t>
            </a:r>
            <a:endParaRPr lang="en-US" sz="1200" dirty="0">
              <a:solidFill>
                <a:srgbClr val="6B728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457200" y="800100"/>
            <a:ext cx="11277600" cy="38100"/>
          </a:xfrm>
          <a:prstGeom prst="rect">
            <a:avLst/>
          </a:prstGeom>
          <a:solidFill>
            <a:srgbClr val="00B0F0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18160" y="209550"/>
            <a:ext cx="245364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rPr>
              <a:t>关键机制设计</a:t>
            </a:r>
            <a:endParaRPr lang="zh-CN" sz="3000" dirty="0">
              <a:solidFill>
                <a:srgbClr val="002060"/>
              </a:solidFill>
              <a:latin typeface="Arial" panose="020B0604020202020204"/>
              <a:ea typeface="黑体" panose="02010609060101010101" charset="-122"/>
              <a:cs typeface="Arial" panose="020B0604020202020204"/>
            </a:endParaRPr>
          </a:p>
        </p:txBody>
      </p:sp>
      <p:grpSp>
        <p:nvGrpSpPr>
          <p:cNvPr id="9" name="Group 9"/>
          <p:cNvGrpSpPr/>
          <p:nvPr/>
        </p:nvGrpSpPr>
        <p:grpSpPr>
          <a:xfrm>
            <a:off x="685800" y="1714500"/>
            <a:ext cx="5143500" cy="1885950"/>
            <a:chOff x="685800" y="1714500"/>
            <a:chExt cx="5143500" cy="1885950"/>
          </a:xfrm>
        </p:grpSpPr>
        <p:sp>
          <p:nvSpPr>
            <p:cNvPr id="6" name="Rectangle 6"/>
            <p:cNvSpPr/>
            <p:nvPr/>
          </p:nvSpPr>
          <p:spPr>
            <a:xfrm>
              <a:off x="685800" y="1714500"/>
              <a:ext cx="5143500" cy="1885950"/>
            </a:xfrm>
            <a:prstGeom prst="roundRect">
              <a:avLst>
                <a:gd name="adj" fmla="val 9091"/>
              </a:avLst>
            </a:prstGeom>
            <a:solidFill>
              <a:srgbClr val="F4F8FF"/>
            </a:solidFill>
            <a:ln w="9525">
              <a:solidFill>
                <a:srgbClr val="C9D9F2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979932" y="1906905"/>
              <a:ext cx="171754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002060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逻辑缓存管理</a:t>
              </a:r>
              <a:endParaRPr lang="zh-CN" sz="210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82218" y="2431732"/>
              <a:ext cx="4207764" cy="64655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550"/>
                </a:lnSpc>
              </a:pPr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以块级为基本单位，维护匹配、分配、淘汰、</a:t>
              </a:r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ready / pending 状态和层间缓存规划。</a:t>
              </a:r>
              <a:endParaRPr 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362700" y="1714500"/>
            <a:ext cx="5143500" cy="1885950"/>
            <a:chOff x="6362700" y="1714500"/>
            <a:chExt cx="5143500" cy="1885950"/>
          </a:xfrm>
        </p:grpSpPr>
        <p:sp>
          <p:nvSpPr>
            <p:cNvPr id="10" name="Rectangle 10"/>
            <p:cNvSpPr/>
            <p:nvPr/>
          </p:nvSpPr>
          <p:spPr>
            <a:xfrm>
              <a:off x="6362700" y="1714500"/>
              <a:ext cx="5143500" cy="1885950"/>
            </a:xfrm>
            <a:prstGeom prst="roundRect">
              <a:avLst>
                <a:gd name="adj" fmla="val 9091"/>
              </a:avLst>
            </a:prstGeom>
            <a:solidFill>
              <a:srgbClr val="F4F8FF"/>
            </a:solidFill>
            <a:ln w="9525">
              <a:solidFill>
                <a:srgbClr val="C9D9F2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656832" y="1906905"/>
              <a:ext cx="256565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002060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物理存储与数据搬运</a:t>
              </a:r>
              <a:endParaRPr lang="zh-CN" sz="210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659118" y="2431732"/>
              <a:ext cx="3903916" cy="64655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550"/>
                </a:lnSpc>
              </a:pPr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统一管理 GPU、CPU、SSD 三类存储句柄，</a:t>
              </a:r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并按依赖顺序执行跨层搬运操作。</a:t>
              </a:r>
              <a:endParaRPr 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85800" y="3962400"/>
            <a:ext cx="5143500" cy="1885950"/>
            <a:chOff x="685800" y="3962400"/>
            <a:chExt cx="5143500" cy="1885950"/>
          </a:xfrm>
        </p:grpSpPr>
        <p:sp>
          <p:nvSpPr>
            <p:cNvPr id="14" name="Rectangle 14"/>
            <p:cNvSpPr/>
            <p:nvPr/>
          </p:nvSpPr>
          <p:spPr>
            <a:xfrm>
              <a:off x="685800" y="3962400"/>
              <a:ext cx="5143500" cy="1885950"/>
            </a:xfrm>
            <a:prstGeom prst="roundRect">
              <a:avLst>
                <a:gd name="adj" fmla="val 9091"/>
              </a:avLst>
            </a:prstGeom>
            <a:solidFill>
              <a:srgbClr val="F4F8FF"/>
            </a:solidFill>
            <a:ln w="9525">
              <a:solidFill>
                <a:srgbClr val="C9D9F2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79932" y="4154805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002060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任务编排</a:t>
              </a:r>
              <a:endParaRPr lang="zh-CN" sz="210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82218" y="4679632"/>
              <a:ext cx="3380041" cy="64655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550"/>
                </a:lnSpc>
              </a:pPr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通过 KVTaskEngine 把“命中规划”与</a:t>
              </a:r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“传输执行”连接为统一生命周期。</a:t>
              </a:r>
              <a:endParaRPr 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362700" y="3962400"/>
            <a:ext cx="5143500" cy="1885950"/>
            <a:chOff x="6362700" y="3962400"/>
            <a:chExt cx="5143500" cy="1885950"/>
          </a:xfrm>
        </p:grpSpPr>
        <p:sp>
          <p:nvSpPr>
            <p:cNvPr id="18" name="Rectangle 18"/>
            <p:cNvSpPr/>
            <p:nvPr/>
          </p:nvSpPr>
          <p:spPr>
            <a:xfrm>
              <a:off x="6362700" y="3962400"/>
              <a:ext cx="5143500" cy="1885950"/>
            </a:xfrm>
            <a:prstGeom prst="roundRect">
              <a:avLst>
                <a:gd name="adj" fmla="val 9091"/>
              </a:avLst>
            </a:prstGeom>
            <a:solidFill>
              <a:srgbClr val="F4F8FF"/>
            </a:solidFill>
            <a:ln w="9525">
              <a:solidFill>
                <a:srgbClr val="C9D9F2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656832" y="4154805"/>
              <a:ext cx="143484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002060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布局自适配</a:t>
              </a:r>
              <a:endParaRPr lang="zh-CN" sz="210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659118" y="4679632"/>
              <a:ext cx="3505771" cy="64655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550"/>
                </a:lnSpc>
              </a:pPr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通过 GPU KV 布局自探测兼容不同版本</a:t>
              </a:r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vLLM 的物理缓存组织方式。</a:t>
              </a:r>
              <a:endParaRPr 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1208106" y="6404610"/>
            <a:ext cx="1898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6B728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07</a:t>
            </a:r>
            <a:endParaRPr lang="en-US" sz="1200" dirty="0">
              <a:solidFill>
                <a:srgbClr val="6B728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457200" y="800100"/>
            <a:ext cx="11277600" cy="38100"/>
          </a:xfrm>
          <a:prstGeom prst="rect">
            <a:avLst/>
          </a:prstGeom>
          <a:solidFill>
            <a:srgbClr val="00B0F0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18160" y="209550"/>
            <a:ext cx="447294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rPr>
              <a:t>项目时间线与阶段推进</a:t>
            </a:r>
            <a:endParaRPr lang="zh-CN" sz="3000" dirty="0">
              <a:solidFill>
                <a:srgbClr val="002060"/>
              </a:solidFill>
              <a:latin typeface="Arial" panose="020B0604020202020204"/>
              <a:ea typeface="黑体" panose="02010609060101010101" charset="-122"/>
              <a:cs typeface="Arial" panose="020B0604020202020204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685800" y="944245"/>
            <a:ext cx="10820400" cy="533400"/>
          </a:xfrm>
          <a:prstGeom prst="roundRect">
            <a:avLst>
              <a:gd name="adj" fmla="val 17857"/>
            </a:avLst>
          </a:prstGeom>
          <a:solidFill>
            <a:srgbClr val="002060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038606" y="1092835"/>
            <a:ext cx="50292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FFFFFF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rPr>
              <a:t>阶段</a:t>
            </a:r>
            <a:endParaRPr lang="zh-CN" sz="1800" dirty="0">
              <a:solidFill>
                <a:srgbClr val="FFFFFF"/>
              </a:solidFill>
              <a:latin typeface="Arial" panose="020B0604020202020204"/>
              <a:ea typeface="黑体" panose="02010609060101010101" charset="-122"/>
              <a:cs typeface="Arial" panose="020B0604020202020204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3896106" y="1092835"/>
            <a:ext cx="98755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FFFFFF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rPr>
              <a:t>关键工作</a:t>
            </a:r>
            <a:endParaRPr lang="zh-CN" sz="1800" dirty="0">
              <a:solidFill>
                <a:srgbClr val="FFFFFF"/>
              </a:solidFill>
              <a:latin typeface="Arial" panose="020B0604020202020204"/>
              <a:ea typeface="黑体" panose="02010609060101010101" charset="-122"/>
              <a:cs typeface="Arial" panose="020B0604020202020204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7515606" y="1092835"/>
            <a:ext cx="74523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FFFFFF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rPr>
              <a:t>阶段产出</a:t>
            </a:r>
            <a:endParaRPr lang="zh-CN" sz="1800" dirty="0">
              <a:solidFill>
                <a:srgbClr val="FFFFFF"/>
              </a:solidFill>
              <a:latin typeface="Arial" panose="020B0604020202020204"/>
              <a:ea typeface="黑体" panose="02010609060101010101" charset="-122"/>
              <a:cs typeface="Arial" panose="020B0604020202020204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0092436" y="1089660"/>
            <a:ext cx="50292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FFFFFF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rPr>
              <a:t>状态</a:t>
            </a:r>
            <a:endParaRPr lang="zh-CN" sz="1800" dirty="0">
              <a:solidFill>
                <a:srgbClr val="FFFFFF"/>
              </a:solidFill>
              <a:latin typeface="Arial" panose="020B0604020202020204"/>
              <a:ea typeface="黑体" panose="02010609060101010101" charset="-122"/>
              <a:cs typeface="Arial" panose="020B0604020202020204"/>
            </a:endParaRPr>
          </a:p>
        </p:txBody>
      </p:sp>
      <p:grpSp>
        <p:nvGrpSpPr>
          <p:cNvPr id="17" name="Group 17"/>
          <p:cNvGrpSpPr/>
          <p:nvPr/>
        </p:nvGrpSpPr>
        <p:grpSpPr>
          <a:xfrm>
            <a:off x="685800" y="1492250"/>
            <a:ext cx="10820400" cy="1275080"/>
            <a:chOff x="685800" y="1612900"/>
            <a:chExt cx="10820400" cy="1275080"/>
          </a:xfrm>
        </p:grpSpPr>
        <p:sp>
          <p:nvSpPr>
            <p:cNvPr id="11" name="Rectangle 11"/>
            <p:cNvSpPr/>
            <p:nvPr/>
          </p:nvSpPr>
          <p:spPr>
            <a:xfrm>
              <a:off x="685800" y="1612900"/>
              <a:ext cx="10820400" cy="1275080"/>
            </a:xfrm>
            <a:prstGeom prst="rect">
              <a:avLst/>
            </a:prstGeom>
            <a:solidFill>
              <a:srgbClr val="F4F8FF"/>
            </a:solidFill>
            <a:ln w="9525">
              <a:solidFill>
                <a:srgbClr val="C9D9F2"/>
              </a:solidFill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37971" y="1764665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002060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调研定位</a:t>
              </a:r>
              <a:endParaRPr lang="zh-CN" sz="180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642108" y="1705292"/>
              <a:ext cx="4324985" cy="10153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ln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3.25 - 4.7</a:t>
              </a:r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：围绕赛题集中调研，分析长上下文</a:t>
              </a:r>
              <a:endParaRPr 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  <a:p>
              <a:pPr algn="l"/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下 KV Cache 的显存占用与性能退化；阅读 vL</a:t>
              </a:r>
              <a:endParaRPr 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  <a:p>
              <a:pPr algn="l"/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LM connector、prefix cache，并横向比较 Flex</a:t>
              </a:r>
              <a:endParaRPr 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  <a:p>
              <a:pPr algn="l"/>
              <a:r>
                <a:rPr lang="en-US" alt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-</a:t>
              </a:r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KV、LMCache、Mooncake 等方案。</a:t>
              </a:r>
              <a:endParaRPr 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515860" y="1780540"/>
              <a:ext cx="2047875" cy="7613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确定 vLLM V1 connector + 三层缓存路线</a:t>
              </a:r>
              <a:endParaRPr 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9837420" y="1816100"/>
              <a:ext cx="1066800" cy="419100"/>
            </a:xfrm>
            <a:prstGeom prst="roundRect">
              <a:avLst>
                <a:gd name="adj" fmla="val 50000"/>
              </a:avLst>
            </a:prstGeom>
            <a:solidFill>
              <a:srgbClr val="56CA95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0029253" y="1914208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完成</a:t>
              </a:r>
              <a:endParaRPr lang="zh-CN" sz="1650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85800" y="2647315"/>
            <a:ext cx="10820400" cy="1363980"/>
            <a:chOff x="685800" y="2868930"/>
            <a:chExt cx="10820400" cy="1363980"/>
          </a:xfrm>
        </p:grpSpPr>
        <p:sp>
          <p:nvSpPr>
            <p:cNvPr id="18" name="Rectangle 18"/>
            <p:cNvSpPr/>
            <p:nvPr/>
          </p:nvSpPr>
          <p:spPr>
            <a:xfrm>
              <a:off x="685800" y="2868930"/>
              <a:ext cx="10820400" cy="135763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9D9F2"/>
              </a:solidFill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38606" y="3130550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002060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结构搭建</a:t>
              </a:r>
              <a:endParaRPr lang="zh-CN" sz="180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665095" y="2963545"/>
              <a:ext cx="4495800" cy="12693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ln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4.8 - 4.28</a:t>
              </a:r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：搭建项目仓库与基础环境，梳理 Python、C++ / CUDA 扩展与测试结构；分析 KV Cache 生命周期、调度关系与关键调用路径，完成 MiniFlex 架构设计与 connector 链路初步实现。</a:t>
              </a:r>
              <a:endParaRPr 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484618" y="332835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形成模块化框架</a:t>
              </a:r>
              <a:endParaRPr 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9810750" y="3244215"/>
              <a:ext cx="1066800" cy="419100"/>
            </a:xfrm>
            <a:prstGeom prst="roundRect">
              <a:avLst>
                <a:gd name="adj" fmla="val 50000"/>
              </a:avLst>
            </a:prstGeom>
            <a:solidFill>
              <a:srgbClr val="56CA95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0002583" y="3342323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完成</a:t>
              </a:r>
              <a:endParaRPr lang="zh-CN" sz="1650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685800" y="4036060"/>
            <a:ext cx="10820400" cy="1257195"/>
            <a:chOff x="685800" y="3886200"/>
            <a:chExt cx="10820400" cy="1397000"/>
          </a:xfrm>
        </p:grpSpPr>
        <p:sp>
          <p:nvSpPr>
            <p:cNvPr id="25" name="Rectangle 25"/>
            <p:cNvSpPr/>
            <p:nvPr/>
          </p:nvSpPr>
          <p:spPr>
            <a:xfrm>
              <a:off x="685800" y="3886200"/>
              <a:ext cx="10820400" cy="1397000"/>
            </a:xfrm>
            <a:prstGeom prst="rect">
              <a:avLst/>
            </a:prstGeom>
            <a:solidFill>
              <a:srgbClr val="F4F8FF"/>
            </a:solidFill>
            <a:ln w="9525">
              <a:solidFill>
                <a:srgbClr val="C9D9F2"/>
              </a:solidFill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38860" y="4187497"/>
              <a:ext cx="980440" cy="30764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002060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核心开发</a:t>
              </a:r>
              <a:endParaRPr lang="zh-CN" sz="180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615565" y="4016508"/>
              <a:ext cx="4545330" cy="11282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ln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4.29 - 5.31</a:t>
              </a:r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：实现 block 级 KV Cache 管理机制，维护元数据、状态流转与命中回填；完成 SSD 路径设计，建立 GPU / CPU / SSD 三层缓存协同机制，并打通 GPU↔CPU↔SSD 关键传输链路。</a:t>
              </a:r>
              <a:endParaRPr 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516495" y="4203065"/>
              <a:ext cx="2047875" cy="56378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完成核心模块与稳定性修复</a:t>
              </a:r>
              <a:endParaRPr 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9810750" y="4282739"/>
              <a:ext cx="1066800" cy="419100"/>
            </a:xfrm>
            <a:prstGeom prst="roundRect">
              <a:avLst>
                <a:gd name="adj" fmla="val 50000"/>
              </a:avLst>
            </a:prstGeom>
            <a:solidFill>
              <a:srgbClr val="56CA95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0029825" y="4380847"/>
              <a:ext cx="628650" cy="2815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完成</a:t>
              </a:r>
              <a:endParaRPr lang="zh-CN" sz="1650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85800" y="5210810"/>
            <a:ext cx="10820400" cy="1280160"/>
            <a:chOff x="685800" y="4724400"/>
            <a:chExt cx="10820400" cy="1280160"/>
          </a:xfrm>
        </p:grpSpPr>
        <p:sp>
          <p:nvSpPr>
            <p:cNvPr id="32" name="Rectangle 32"/>
            <p:cNvSpPr/>
            <p:nvPr/>
          </p:nvSpPr>
          <p:spPr>
            <a:xfrm>
              <a:off x="685800" y="4724400"/>
              <a:ext cx="10820400" cy="128016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9D9F2"/>
              </a:solidFill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38606" y="5025390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002060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联调验证</a:t>
              </a:r>
              <a:endParaRPr lang="zh-CN" sz="180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642870" y="4927600"/>
              <a:ext cx="4518025" cy="5073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ln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6.1 - 6.30</a:t>
              </a:r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：补全命中、写回、回填与淘汰等核心逻辑，完成与 vLLM 的兼容适配；设计长上下文、超容量工作集和混合负载三类场景，编写基准脚本并整理 README、验证报告和展示材料。</a:t>
              </a:r>
              <a:endParaRPr 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516495" y="5041265"/>
              <a:ext cx="1997075" cy="5073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形成闭环验证与比赛材料</a:t>
              </a:r>
              <a:endParaRPr 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9783445" y="5041265"/>
              <a:ext cx="1066800" cy="419100"/>
            </a:xfrm>
            <a:prstGeom prst="roundRect">
              <a:avLst>
                <a:gd name="adj" fmla="val 50000"/>
              </a:avLst>
            </a:prstGeom>
            <a:solidFill>
              <a:srgbClr val="56CA95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9975278" y="5139373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完成</a:t>
              </a:r>
              <a:endParaRPr lang="zh-CN" sz="1650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11208106" y="6404610"/>
            <a:ext cx="1898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6B728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10</a:t>
            </a:r>
            <a:endParaRPr lang="en-US" sz="1200" dirty="0">
              <a:solidFill>
                <a:srgbClr val="6B728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/>
          <p:nvPr/>
        </p:nvSpPr>
        <p:spPr>
          <a:xfrm>
            <a:off x="457200" y="800100"/>
            <a:ext cx="11277600" cy="38100"/>
          </a:xfrm>
          <a:prstGeom prst="rect">
            <a:avLst/>
          </a:prstGeom>
          <a:solidFill>
            <a:srgbClr val="00B0F0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18160" y="209550"/>
            <a:ext cx="3048000" cy="46164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  <a:sym typeface="+mn-ea"/>
              </a:rPr>
              <a:t>当前完成情况总览</a:t>
            </a:r>
            <a:endParaRPr lang="zh-CN" sz="3000" dirty="0">
              <a:solidFill>
                <a:srgbClr val="002060"/>
              </a:solidFill>
              <a:latin typeface="Arial" panose="020B0604020202020204"/>
              <a:ea typeface="黑体" panose="02010609060101010101" charset="-122"/>
              <a:cs typeface="Arial" panose="020B0604020202020204"/>
            </a:endParaRPr>
          </a:p>
        </p:txBody>
      </p:sp>
      <p:grpSp>
        <p:nvGrpSpPr>
          <p:cNvPr id="9" name="Group 9"/>
          <p:cNvGrpSpPr/>
          <p:nvPr/>
        </p:nvGrpSpPr>
        <p:grpSpPr>
          <a:xfrm>
            <a:off x="762000" y="1177290"/>
            <a:ext cx="2476500" cy="990600"/>
            <a:chOff x="762000" y="1695450"/>
            <a:chExt cx="2476500" cy="990600"/>
          </a:xfrm>
        </p:grpSpPr>
        <p:sp>
          <p:nvSpPr>
            <p:cNvPr id="6" name="Rectangle 6"/>
            <p:cNvSpPr/>
            <p:nvPr/>
          </p:nvSpPr>
          <p:spPr>
            <a:xfrm>
              <a:off x="762000" y="1695450"/>
              <a:ext cx="2476500" cy="990600"/>
            </a:xfrm>
            <a:prstGeom prst="roundRect">
              <a:avLst>
                <a:gd name="adj" fmla="val 13462"/>
              </a:avLst>
            </a:prstGeom>
            <a:solidFill>
              <a:srgbClr val="002060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424178" y="2028190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>
                  <a:solidFill>
                    <a:srgbClr val="FFFFFF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赛题要求</a:t>
              </a:r>
              <a:endParaRPr lang="zh-CN" sz="2100" dirty="0">
                <a:solidFill>
                  <a:srgbClr val="FFFFFF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3390900" y="1177290"/>
            <a:ext cx="8039100" cy="990600"/>
            <a:chOff x="3390900" y="1695450"/>
            <a:chExt cx="8039100" cy="990600"/>
          </a:xfrm>
        </p:grpSpPr>
        <p:sp>
          <p:nvSpPr>
            <p:cNvPr id="10" name="Rectangle 10"/>
            <p:cNvSpPr/>
            <p:nvPr/>
          </p:nvSpPr>
          <p:spPr>
            <a:xfrm>
              <a:off x="3390900" y="1695450"/>
              <a:ext cx="8039100" cy="990600"/>
            </a:xfrm>
            <a:prstGeom prst="roundRect">
              <a:avLst>
                <a:gd name="adj" fmla="val 13462"/>
              </a:avLst>
            </a:prstGeom>
            <a:solidFill>
              <a:srgbClr val="00B0F0">
                <a:alpha val="12000"/>
              </a:srgbClr>
            </a:solidFill>
            <a:ln w="19050">
              <a:solidFill>
                <a:srgbClr val="00B0F0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69609" y="2042160"/>
              <a:ext cx="228295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>
                  <a:solidFill>
                    <a:srgbClr val="002060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当前实现对应能力</a:t>
              </a:r>
              <a:endParaRPr lang="zh-CN" sz="210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</p:grpSp>
      <p:grpSp>
        <p:nvGrpSpPr>
          <p:cNvPr id="18" name="Group 18"/>
          <p:cNvGrpSpPr/>
          <p:nvPr>
            <p:custDataLst>
              <p:tags r:id="rId1"/>
            </p:custDataLst>
          </p:nvPr>
        </p:nvGrpSpPr>
        <p:grpSpPr>
          <a:xfrm>
            <a:off x="762000" y="2377440"/>
            <a:ext cx="10668000" cy="800100"/>
            <a:chOff x="762000" y="2895600"/>
            <a:chExt cx="10668000" cy="800100"/>
          </a:xfrm>
        </p:grpSpPr>
        <p:sp>
          <p:nvSpPr>
            <p:cNvPr id="14" name="Rectangle 14"/>
            <p:cNvSpPr/>
            <p:nvPr>
              <p:custDataLst>
                <p:tags r:id="rId2"/>
              </p:custDataLst>
            </p:nvPr>
          </p:nvSpPr>
          <p:spPr>
            <a:xfrm>
              <a:off x="762000" y="2895600"/>
              <a:ext cx="2476500" cy="800100"/>
            </a:xfrm>
            <a:prstGeom prst="roundRect">
              <a:avLst>
                <a:gd name="adj" fmla="val 14286"/>
              </a:avLst>
            </a:prstGeom>
            <a:solidFill>
              <a:srgbClr val="F4F8FF"/>
            </a:solidFill>
            <a:ln w="9525">
              <a:solidFill>
                <a:srgbClr val="C9D9F2"/>
              </a:solidFill>
            </a:ln>
          </p:spPr>
        </p:sp>
        <p:sp>
          <p:nvSpPr>
            <p:cNvPr id="15" name="TextBox 15"/>
            <p:cNvSpPr txBox="1"/>
            <p:nvPr>
              <p:custDataLst>
                <p:tags r:id="rId3"/>
              </p:custDataLst>
            </p:nvPr>
          </p:nvSpPr>
          <p:spPr>
            <a:xfrm>
              <a:off x="980694" y="3161348"/>
              <a:ext cx="189675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002060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访问模式 / 热度</a:t>
              </a:r>
              <a:endParaRPr lang="zh-CN" sz="195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16" name="Rectangle 16"/>
            <p:cNvSpPr/>
            <p:nvPr>
              <p:custDataLst>
                <p:tags r:id="rId4"/>
              </p:custDataLst>
            </p:nvPr>
          </p:nvSpPr>
          <p:spPr>
            <a:xfrm>
              <a:off x="3390900" y="2895600"/>
              <a:ext cx="8039100" cy="800100"/>
            </a:xfrm>
            <a:prstGeom prst="roundRect">
              <a:avLst>
                <a:gd name="adj" fmla="val 14286"/>
              </a:avLst>
            </a:prstGeom>
            <a:solidFill>
              <a:srgbClr val="FFFFFF"/>
            </a:solidFill>
            <a:ln w="9525">
              <a:solidFill>
                <a:srgbClr val="C9D9F2"/>
              </a:solidFill>
            </a:ln>
          </p:spPr>
        </p:sp>
        <p:sp>
          <p:nvSpPr>
            <p:cNvPr id="17" name="TextBox 17"/>
            <p:cNvSpPr txBox="1"/>
            <p:nvPr>
              <p:custDataLst>
                <p:tags r:id="rId5"/>
              </p:custDataLst>
            </p:nvPr>
          </p:nvSpPr>
          <p:spPr>
            <a:xfrm>
              <a:off x="3505200" y="3035300"/>
              <a:ext cx="7810500" cy="5073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已具备块级匹配、缓存行为组织与层间状态管理基础，可承载热度定义与访问观测逻辑。</a:t>
              </a:r>
              <a:endParaRPr 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3" name="Group 23"/>
          <p:cNvGrpSpPr/>
          <p:nvPr>
            <p:custDataLst>
              <p:tags r:id="rId6"/>
            </p:custDataLst>
          </p:nvPr>
        </p:nvGrpSpPr>
        <p:grpSpPr>
          <a:xfrm>
            <a:off x="762000" y="3368040"/>
            <a:ext cx="11173689" cy="800100"/>
            <a:chOff x="762000" y="3886200"/>
            <a:chExt cx="11173689" cy="800100"/>
          </a:xfrm>
        </p:grpSpPr>
        <p:sp>
          <p:nvSpPr>
            <p:cNvPr id="19" name="Rectangle 19"/>
            <p:cNvSpPr/>
            <p:nvPr>
              <p:custDataLst>
                <p:tags r:id="rId7"/>
              </p:custDataLst>
            </p:nvPr>
          </p:nvSpPr>
          <p:spPr>
            <a:xfrm>
              <a:off x="762000" y="3886200"/>
              <a:ext cx="2476500" cy="800100"/>
            </a:xfrm>
            <a:prstGeom prst="roundRect">
              <a:avLst>
                <a:gd name="adj" fmla="val 14286"/>
              </a:avLst>
            </a:prstGeom>
            <a:solidFill>
              <a:srgbClr val="F4F8FF"/>
            </a:solidFill>
            <a:ln w="9525">
              <a:solidFill>
                <a:srgbClr val="C9D9F2"/>
              </a:solidFill>
            </a:ln>
          </p:spPr>
        </p:sp>
        <p:sp>
          <p:nvSpPr>
            <p:cNvPr id="20" name="TextBox 20"/>
            <p:cNvSpPr txBox="1"/>
            <p:nvPr>
              <p:custDataLst>
                <p:tags r:id="rId8"/>
              </p:custDataLst>
            </p:nvPr>
          </p:nvSpPr>
          <p:spPr>
            <a:xfrm>
              <a:off x="980694" y="4151948"/>
              <a:ext cx="193612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002060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热 / 温 / 冷迁移</a:t>
              </a:r>
              <a:endParaRPr lang="zh-CN" sz="195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21" name="Rectangle 21"/>
            <p:cNvSpPr/>
            <p:nvPr>
              <p:custDataLst>
                <p:tags r:id="rId9"/>
              </p:custDataLst>
            </p:nvPr>
          </p:nvSpPr>
          <p:spPr>
            <a:xfrm>
              <a:off x="3390900" y="3886200"/>
              <a:ext cx="8039100" cy="800100"/>
            </a:xfrm>
            <a:prstGeom prst="roundRect">
              <a:avLst>
                <a:gd name="adj" fmla="val 14286"/>
              </a:avLst>
            </a:prstGeom>
            <a:solidFill>
              <a:srgbClr val="FFFFFF"/>
            </a:solidFill>
            <a:ln w="9525">
              <a:solidFill>
                <a:srgbClr val="C9D9F2"/>
              </a:solidFill>
            </a:ln>
          </p:spPr>
        </p:sp>
        <p:sp>
          <p:nvSpPr>
            <p:cNvPr id="22" name="TextBox 22"/>
            <p:cNvSpPr txBox="1"/>
            <p:nvPr>
              <p:custDataLst>
                <p:tags r:id="rId10"/>
              </p:custDataLst>
            </p:nvPr>
          </p:nvSpPr>
          <p:spPr>
            <a:xfrm>
              <a:off x="3505073" y="4125277"/>
              <a:ext cx="84306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已完成 GPU / CPU / SSD 分层缓存路径，以及低层命中后的回填与溢出承接能力。</a:t>
              </a:r>
              <a:endParaRPr 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8" name="Group 28"/>
          <p:cNvGrpSpPr/>
          <p:nvPr>
            <p:custDataLst>
              <p:tags r:id="rId11"/>
            </p:custDataLst>
          </p:nvPr>
        </p:nvGrpSpPr>
        <p:grpSpPr>
          <a:xfrm>
            <a:off x="762000" y="4358640"/>
            <a:ext cx="11000600" cy="800100"/>
            <a:chOff x="762000" y="4876800"/>
            <a:chExt cx="11000600" cy="800100"/>
          </a:xfrm>
        </p:grpSpPr>
        <p:sp>
          <p:nvSpPr>
            <p:cNvPr id="24" name="Rectangle 24"/>
            <p:cNvSpPr/>
            <p:nvPr>
              <p:custDataLst>
                <p:tags r:id="rId12"/>
              </p:custDataLst>
            </p:nvPr>
          </p:nvSpPr>
          <p:spPr>
            <a:xfrm>
              <a:off x="762000" y="4876800"/>
              <a:ext cx="2476500" cy="800100"/>
            </a:xfrm>
            <a:prstGeom prst="roundRect">
              <a:avLst>
                <a:gd name="adj" fmla="val 14286"/>
              </a:avLst>
            </a:prstGeom>
            <a:solidFill>
              <a:srgbClr val="F4F8FF"/>
            </a:solidFill>
            <a:ln w="9525">
              <a:solidFill>
                <a:srgbClr val="C9D9F2"/>
              </a:solidFill>
            </a:ln>
          </p:spPr>
        </p:sp>
        <p:sp>
          <p:nvSpPr>
            <p:cNvPr id="25" name="TextBox 25"/>
            <p:cNvSpPr txBox="1"/>
            <p:nvPr>
              <p:custDataLst>
                <p:tags r:id="rId13"/>
              </p:custDataLst>
            </p:nvPr>
          </p:nvSpPr>
          <p:spPr>
            <a:xfrm>
              <a:off x="980694" y="5142548"/>
              <a:ext cx="215926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002060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分配器 / 碎片控制</a:t>
              </a:r>
              <a:endParaRPr lang="zh-CN" sz="195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26" name="Rectangle 26"/>
            <p:cNvSpPr/>
            <p:nvPr>
              <p:custDataLst>
                <p:tags r:id="rId14"/>
              </p:custDataLst>
            </p:nvPr>
          </p:nvSpPr>
          <p:spPr>
            <a:xfrm>
              <a:off x="3390900" y="4876800"/>
              <a:ext cx="8039100" cy="800100"/>
            </a:xfrm>
            <a:prstGeom prst="roundRect">
              <a:avLst>
                <a:gd name="adj" fmla="val 14286"/>
              </a:avLst>
            </a:prstGeom>
            <a:solidFill>
              <a:srgbClr val="FFFFFF"/>
            </a:solidFill>
            <a:ln w="9525">
              <a:solidFill>
                <a:srgbClr val="C9D9F2"/>
              </a:solidFill>
            </a:ln>
          </p:spPr>
        </p:sp>
        <p:sp>
          <p:nvSpPr>
            <p:cNvPr id="27" name="TextBox 27"/>
            <p:cNvSpPr txBox="1"/>
            <p:nvPr>
              <p:custDataLst>
                <p:tags r:id="rId15"/>
              </p:custDataLst>
            </p:nvPr>
          </p:nvSpPr>
          <p:spPr>
            <a:xfrm>
              <a:off x="3505073" y="5143182"/>
              <a:ext cx="825752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当前方案以 block 为基本单位组织缓存管理，更贴近页式缓存布局和块级回收逻辑。</a:t>
              </a:r>
              <a:endParaRPr 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11208106" y="6404610"/>
            <a:ext cx="1898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6B728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08</a:t>
            </a:r>
            <a:endParaRPr lang="en-US" sz="1200" dirty="0">
              <a:solidFill>
                <a:srgbClr val="6B728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762000" y="5368925"/>
            <a:ext cx="10668000" cy="915035"/>
          </a:xfrm>
          <a:prstGeom prst="roundRect">
            <a:avLst>
              <a:gd name="adj" fmla="val 10843"/>
            </a:avLst>
          </a:prstGeom>
          <a:solidFill>
            <a:srgbClr val="002060">
              <a:alpha val="8000"/>
            </a:srgbClr>
          </a:solidFill>
          <a:ln w="19050">
            <a:solidFill>
              <a:srgbClr val="6096E6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1075690" y="5679440"/>
            <a:ext cx="10036810" cy="713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/>
            <a:r>
              <a:rPr lang="zh-CN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  <a:sym typeface="+mn-ea"/>
              </a:rPr>
              <a:t>整体框架</a:t>
            </a:r>
            <a:r>
              <a:rPr lang="zh-CN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已完成单机单卡版本MiniFlexKV 整体骨架</a:t>
            </a:r>
            <a:r>
              <a:rPr lang="en-US" altLang="zh-CN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,</a:t>
            </a:r>
            <a:r>
              <a:rPr lang="zh-CN" altLang="en-US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并进行了</a:t>
            </a:r>
            <a:r>
              <a:rPr lang="zh-CN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正确性校验与主要性能实验整理。</a:t>
            </a:r>
            <a:endParaRPr lang="zh-CN" dirty="0">
              <a:solidFill>
                <a:srgbClr val="0F1423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l"/>
            <a:endParaRPr lang="en-US" altLang="zh-CN" sz="1800" dirty="0">
              <a:solidFill>
                <a:srgbClr val="0F1423"/>
              </a:solidFill>
              <a:latin typeface="Arial" panose="020B0604020202020204"/>
              <a:ea typeface="微软雅黑" panose="020B0503020204020204" charset="-122"/>
              <a:cs typeface="Arial" panose="020B0604020202020204"/>
              <a:sym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457200" y="800100"/>
            <a:ext cx="11277600" cy="38100"/>
          </a:xfrm>
          <a:prstGeom prst="rect">
            <a:avLst/>
          </a:prstGeom>
          <a:solidFill>
            <a:srgbClr val="00B0F0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18160" y="209550"/>
            <a:ext cx="406908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rPr>
              <a:t>成果一：功能与正确性</a:t>
            </a:r>
            <a:endParaRPr lang="zh-CN" sz="3000" dirty="0">
              <a:solidFill>
                <a:srgbClr val="002060"/>
              </a:solidFill>
              <a:latin typeface="Arial" panose="020B0604020202020204"/>
              <a:ea typeface="黑体" panose="02010609060101010101" charset="-122"/>
              <a:cs typeface="Arial" panose="020B0604020202020204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22732" y="954405"/>
            <a:ext cx="10685069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44546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当前实现已经证明系统能正确接入、正确搬运并在不同布局间保持 KV 数据一致。</a:t>
            </a:r>
            <a:endParaRPr lang="zh-CN" sz="2100" dirty="0">
              <a:solidFill>
                <a:srgbClr val="44546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685800" y="1714500"/>
            <a:ext cx="4457700" cy="4267200"/>
          </a:xfrm>
          <a:prstGeom prst="roundRect">
            <a:avLst>
              <a:gd name="adj" fmla="val 4464"/>
            </a:avLst>
          </a:prstGeom>
          <a:solidFill>
            <a:srgbClr val="F4F8FF"/>
          </a:solidFill>
          <a:ln w="9525">
            <a:solidFill>
              <a:srgbClr val="C9D9F2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979170" y="1890712"/>
            <a:ext cx="1840230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rPr>
              <a:t>正确性检查项</a:t>
            </a:r>
            <a:endParaRPr lang="zh-CN" sz="2250" dirty="0">
              <a:solidFill>
                <a:srgbClr val="002060"/>
              </a:solidFill>
              <a:latin typeface="Arial" panose="020B0604020202020204"/>
              <a:ea typeface="黑体" panose="02010609060101010101" charset="-122"/>
              <a:cs typeface="Arial" panose="020B0604020202020204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981837" y="2537936"/>
            <a:ext cx="3860800" cy="264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✓ 启动成功：</a:t>
            </a:r>
            <a:r>
              <a:rPr lang="en-US" altLang="zh-CN" sz="172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Qwen3-</a:t>
            </a:r>
            <a:r>
              <a:rPr lang="zh-CN" sz="172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8B + vLLM 0.23 +</a:t>
            </a:r>
            <a:endParaRPr lang="zh-CN" sz="1720" dirty="0">
              <a:solidFill>
                <a:srgbClr val="0F1423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248537" y="2861786"/>
            <a:ext cx="3149989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MiniFlex connector 正常工作</a:t>
            </a:r>
            <a:endParaRPr lang="zh-CN" sz="1720" dirty="0">
              <a:solidFill>
                <a:srgbClr val="0F1423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981837" y="3357086"/>
            <a:ext cx="3001547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✓ 补全正确：基础请求可得到</a:t>
            </a:r>
            <a:endParaRPr lang="zh-CN" sz="1720" dirty="0">
              <a:solidFill>
                <a:srgbClr val="0F1423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248537" y="3680936"/>
            <a:ext cx="2571940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合理输出，推理链路可用</a:t>
            </a:r>
            <a:endParaRPr lang="zh-CN" sz="1720" dirty="0">
              <a:solidFill>
                <a:srgbClr val="0F1423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981837" y="4176236"/>
            <a:ext cx="3207258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✓ KV 传输正确：PUT / GET 后</a:t>
            </a:r>
            <a:endParaRPr lang="zh-CN" sz="1720" dirty="0">
              <a:solidFill>
                <a:srgbClr val="0F1423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248537" y="4500086"/>
            <a:ext cx="2850604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`torch.equal` 逐字节相等</a:t>
            </a:r>
            <a:endParaRPr lang="zh-CN" sz="1720" dirty="0">
              <a:solidFill>
                <a:srgbClr val="0F1423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981837" y="4995386"/>
            <a:ext cx="2544775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✓ 布局一致：GPU ↔ CPU</a:t>
            </a:r>
            <a:endParaRPr lang="zh-CN" sz="1720" dirty="0">
              <a:solidFill>
                <a:srgbClr val="0F1423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248537" y="5319236"/>
            <a:ext cx="1643062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往返后字节一致</a:t>
            </a:r>
            <a:endParaRPr lang="zh-CN" sz="1720" dirty="0">
              <a:solidFill>
                <a:srgbClr val="0F1423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grpSp>
        <p:nvGrpSpPr>
          <p:cNvPr id="19" name="Group 19"/>
          <p:cNvGrpSpPr/>
          <p:nvPr/>
        </p:nvGrpSpPr>
        <p:grpSpPr>
          <a:xfrm>
            <a:off x="5600700" y="1714500"/>
            <a:ext cx="5905500" cy="1257300"/>
            <a:chOff x="5600700" y="1714500"/>
            <a:chExt cx="5905500" cy="1257300"/>
          </a:xfrm>
        </p:grpSpPr>
        <p:sp>
          <p:nvSpPr>
            <p:cNvPr id="16" name="Rectangle 16"/>
            <p:cNvSpPr/>
            <p:nvPr/>
          </p:nvSpPr>
          <p:spPr>
            <a:xfrm>
              <a:off x="5600700" y="1714500"/>
              <a:ext cx="5905500" cy="1257300"/>
            </a:xfrm>
            <a:prstGeom prst="roundRect">
              <a:avLst>
                <a:gd name="adj" fmla="val 13636"/>
              </a:avLst>
            </a:prstGeom>
            <a:solidFill>
              <a:srgbClr val="FFFFFF"/>
            </a:solidFill>
            <a:ln w="9525">
              <a:solidFill>
                <a:srgbClr val="C9D9F2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894832" y="1903095"/>
              <a:ext cx="308865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002060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证据 1：启动与补全链路</a:t>
              </a:r>
              <a:endParaRPr lang="zh-CN" sz="210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894705" y="2345690"/>
              <a:ext cx="5580380" cy="5073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系统能够在目标环境中成功启动，并完成从 connector 到推理输出的完整链路。</a:t>
              </a:r>
              <a:endParaRPr 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600700" y="3219450"/>
            <a:ext cx="5905500" cy="1257300"/>
            <a:chOff x="5600700" y="3219450"/>
            <a:chExt cx="5905500" cy="1257300"/>
          </a:xfrm>
        </p:grpSpPr>
        <p:sp>
          <p:nvSpPr>
            <p:cNvPr id="20" name="Rectangle 20"/>
            <p:cNvSpPr/>
            <p:nvPr/>
          </p:nvSpPr>
          <p:spPr>
            <a:xfrm>
              <a:off x="5600700" y="3219450"/>
              <a:ext cx="5905500" cy="1257300"/>
            </a:xfrm>
            <a:prstGeom prst="roundRect">
              <a:avLst>
                <a:gd name="adj" fmla="val 13636"/>
              </a:avLst>
            </a:prstGeom>
            <a:solidFill>
              <a:srgbClr val="FFFFFF"/>
            </a:solidFill>
            <a:ln w="9525">
              <a:solidFill>
                <a:srgbClr val="C9D9F2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894832" y="3422015"/>
              <a:ext cx="308865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002060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证据 2：数据传输一致性</a:t>
              </a:r>
              <a:endParaRPr lang="zh-CN" sz="210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894705" y="3890010"/>
              <a:ext cx="5503545" cy="5073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PUT 把 GPU block 写入 CPU 层，GET 读回后可达到逐字节一致，说明基础搬运链路正确。</a:t>
              </a:r>
              <a:endParaRPr 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600700" y="4724400"/>
            <a:ext cx="5905500" cy="1257300"/>
            <a:chOff x="5600700" y="4724400"/>
            <a:chExt cx="5905500" cy="1257300"/>
          </a:xfrm>
        </p:grpSpPr>
        <p:sp>
          <p:nvSpPr>
            <p:cNvPr id="24" name="Rectangle 24"/>
            <p:cNvSpPr/>
            <p:nvPr/>
          </p:nvSpPr>
          <p:spPr>
            <a:xfrm>
              <a:off x="5600700" y="4724400"/>
              <a:ext cx="5905500" cy="1257300"/>
            </a:xfrm>
            <a:prstGeom prst="roundRect">
              <a:avLst>
                <a:gd name="adj" fmla="val 13636"/>
              </a:avLst>
            </a:prstGeom>
            <a:solidFill>
              <a:srgbClr val="FFFFFF"/>
            </a:solidFill>
            <a:ln w="9525">
              <a:solidFill>
                <a:srgbClr val="C9D9F2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894832" y="4926965"/>
              <a:ext cx="308865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002060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证据 3：布局自适配成立</a:t>
              </a:r>
              <a:endParaRPr lang="zh-CN" sz="210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894705" y="5343525"/>
              <a:ext cx="5516245" cy="5073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GPU `LAYERBLOCK` 与 CPU `LAYERFIRST` 间往返保持一致，说明不同布局的适配逻辑成立。</a:t>
              </a:r>
              <a:endParaRPr 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11208106" y="6404610"/>
            <a:ext cx="1898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6B728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11</a:t>
            </a:r>
            <a:endParaRPr lang="en-US" sz="1200" dirty="0">
              <a:solidFill>
                <a:srgbClr val="6B728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6985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457200" y="800100"/>
            <a:ext cx="11277600" cy="38100"/>
          </a:xfrm>
          <a:prstGeom prst="rect">
            <a:avLst/>
          </a:prstGeom>
          <a:solidFill>
            <a:srgbClr val="00B0F0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18160" y="209550"/>
            <a:ext cx="487680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rPr>
              <a:t>成果二：长上下文加速效果</a:t>
            </a:r>
            <a:endParaRPr lang="zh-CN" sz="3000" dirty="0">
              <a:solidFill>
                <a:srgbClr val="002060"/>
              </a:solidFill>
              <a:latin typeface="Arial" panose="020B0604020202020204"/>
              <a:ea typeface="黑体" panose="02010609060101010101" charset="-122"/>
              <a:cs typeface="Arial" panose="020B0604020202020204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22732" y="954405"/>
            <a:ext cx="11819144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44546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在长上下文场景中，MiniFlex 命中后可以显著减少全量重算开销，而且上下文越长收益越大。</a:t>
            </a:r>
            <a:endParaRPr lang="zh-CN" sz="2100" dirty="0">
              <a:solidFill>
                <a:srgbClr val="44546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685800" y="1714500"/>
            <a:ext cx="8039100" cy="4305300"/>
          </a:xfrm>
          <a:prstGeom prst="roundRect">
            <a:avLst>
              <a:gd name="adj" fmla="val 3982"/>
            </a:avLst>
          </a:prstGeom>
          <a:solidFill>
            <a:srgbClr val="FFFFFF"/>
          </a:solidFill>
          <a:ln w="9525">
            <a:solidFill>
              <a:srgbClr val="C9D9F2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979932" y="1868805"/>
            <a:ext cx="4177055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rPr>
              <a:t>加速比（热态命中 vs 冷态重算）</a:t>
            </a:r>
            <a:endParaRPr lang="zh-CN" sz="2100" dirty="0">
              <a:solidFill>
                <a:srgbClr val="002060"/>
              </a:solidFill>
              <a:latin typeface="Arial" panose="020B0604020202020204"/>
              <a:ea typeface="黑体" panose="02010609060101010101" charset="-122"/>
              <a:cs typeface="Arial" panose="020B0604020202020204"/>
            </a:endParaRPr>
          </a:p>
        </p:txBody>
      </p:sp>
      <p:sp>
        <p:nvSpPr>
          <p:cNvPr id="8" name="Line 8"/>
          <p:cNvSpPr/>
          <p:nvPr/>
        </p:nvSpPr>
        <p:spPr>
          <a:xfrm>
            <a:off x="1333500" y="5372100"/>
            <a:ext cx="6915150" cy="9525"/>
          </a:xfrm>
          <a:custGeom>
            <a:avLst/>
            <a:gdLst/>
            <a:ahLst/>
            <a:cxnLst/>
            <a:rect l="l" t="t" r="r" b="b"/>
            <a:pathLst>
              <a:path w="6915150" h="9525">
                <a:moveTo>
                  <a:pt x="0" y="0"/>
                </a:moveTo>
                <a:lnTo>
                  <a:pt x="6915150" y="0"/>
                </a:lnTo>
              </a:path>
            </a:pathLst>
          </a:custGeom>
          <a:noFill/>
          <a:ln w="19050">
            <a:solidFill>
              <a:srgbClr val="AABEDC"/>
            </a:solidFill>
          </a:ln>
        </p:spPr>
      </p:sp>
      <p:sp>
        <p:nvSpPr>
          <p:cNvPr id="9" name="Line 9"/>
          <p:cNvSpPr/>
          <p:nvPr/>
        </p:nvSpPr>
        <p:spPr>
          <a:xfrm>
            <a:off x="1333500" y="2400300"/>
            <a:ext cx="9525" cy="2971800"/>
          </a:xfrm>
          <a:custGeom>
            <a:avLst/>
            <a:gdLst/>
            <a:ahLst/>
            <a:cxnLst/>
            <a:rect l="l" t="t" r="r" b="b"/>
            <a:pathLst>
              <a:path w="9525" h="2971800">
                <a:moveTo>
                  <a:pt x="0" y="0"/>
                </a:moveTo>
                <a:lnTo>
                  <a:pt x="0" y="2971800"/>
                </a:lnTo>
              </a:path>
            </a:pathLst>
          </a:custGeom>
          <a:noFill/>
          <a:ln w="19050">
            <a:solidFill>
              <a:srgbClr val="AABEDC"/>
            </a:solidFill>
          </a:ln>
        </p:spPr>
      </p:sp>
      <p:grpSp>
        <p:nvGrpSpPr>
          <p:cNvPr id="17" name="Group 17"/>
          <p:cNvGrpSpPr/>
          <p:nvPr/>
        </p:nvGrpSpPr>
        <p:grpSpPr>
          <a:xfrm>
            <a:off x="1676400" y="2438400"/>
            <a:ext cx="6038850" cy="2933700"/>
            <a:chOff x="1676400" y="2438400"/>
            <a:chExt cx="6038850" cy="2933700"/>
          </a:xfrm>
        </p:grpSpPr>
        <p:sp>
          <p:nvSpPr>
            <p:cNvPr id="10" name="Rectangle 10"/>
            <p:cNvSpPr/>
            <p:nvPr/>
          </p:nvSpPr>
          <p:spPr>
            <a:xfrm>
              <a:off x="1676400" y="4867275"/>
              <a:ext cx="552450" cy="504825"/>
            </a:xfrm>
            <a:prstGeom prst="roundRect">
              <a:avLst>
                <a:gd name="adj" fmla="val 15094"/>
              </a:avLst>
            </a:prstGeom>
            <a:solidFill>
              <a:srgbClr val="00B0F0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2590800" y="4743450"/>
              <a:ext cx="552450" cy="628650"/>
            </a:xfrm>
            <a:prstGeom prst="roundRect">
              <a:avLst>
                <a:gd name="adj" fmla="val 13793"/>
              </a:avLst>
            </a:prstGeom>
            <a:solidFill>
              <a:srgbClr val="00B0F0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3505200" y="4505325"/>
              <a:ext cx="552450" cy="866775"/>
            </a:xfrm>
            <a:prstGeom prst="roundRect">
              <a:avLst>
                <a:gd name="adj" fmla="val 13793"/>
              </a:avLst>
            </a:prstGeom>
            <a:solidFill>
              <a:srgbClr val="00B0F0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4419600" y="4095750"/>
              <a:ext cx="552450" cy="1276350"/>
            </a:xfrm>
            <a:prstGeom prst="roundRect">
              <a:avLst>
                <a:gd name="adj" fmla="val 13793"/>
              </a:avLst>
            </a:prstGeom>
            <a:solidFill>
              <a:srgbClr val="00B0F0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5334000" y="3228975"/>
              <a:ext cx="552450" cy="2143125"/>
            </a:xfrm>
            <a:prstGeom prst="roundRect">
              <a:avLst>
                <a:gd name="adj" fmla="val 13793"/>
              </a:avLst>
            </a:prstGeom>
            <a:solidFill>
              <a:srgbClr val="00B0F0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6248400" y="2943225"/>
              <a:ext cx="552450" cy="2428875"/>
            </a:xfrm>
            <a:prstGeom prst="roundRect">
              <a:avLst>
                <a:gd name="adj" fmla="val 13793"/>
              </a:avLst>
            </a:prstGeom>
            <a:solidFill>
              <a:srgbClr val="00B0F0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62800" y="2438400"/>
              <a:ext cx="552450" cy="2933700"/>
            </a:xfrm>
            <a:prstGeom prst="roundRect">
              <a:avLst>
                <a:gd name="adj" fmla="val 13793"/>
              </a:avLst>
            </a:prstGeom>
            <a:solidFill>
              <a:srgbClr val="002060"/>
            </a:solidFill>
            <a:ln>
              <a:noFill/>
            </a:ln>
          </p:spPr>
        </p:sp>
      </p:grpSp>
      <p:grpSp>
        <p:nvGrpSpPr>
          <p:cNvPr id="25" name="Group 25"/>
          <p:cNvGrpSpPr/>
          <p:nvPr/>
        </p:nvGrpSpPr>
        <p:grpSpPr>
          <a:xfrm>
            <a:off x="1795834" y="5493068"/>
            <a:ext cx="5849959" cy="264033"/>
            <a:chOff x="1795834" y="5493068"/>
            <a:chExt cx="5849959" cy="264033"/>
          </a:xfrm>
        </p:grpSpPr>
        <p:sp>
          <p:nvSpPr>
            <p:cNvPr id="18" name="TextBox 18"/>
            <p:cNvSpPr txBox="1"/>
            <p:nvPr/>
          </p:nvSpPr>
          <p:spPr>
            <a:xfrm>
              <a:off x="1795834" y="5493068"/>
              <a:ext cx="3135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44546A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~1k</a:t>
              </a:r>
              <a:endParaRPr lang="en-US" sz="1350" dirty="0">
                <a:solidFill>
                  <a:srgbClr val="44546A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710234" y="5493068"/>
              <a:ext cx="3135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44546A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~2k</a:t>
              </a:r>
              <a:endParaRPr lang="en-US" sz="1350" dirty="0">
                <a:solidFill>
                  <a:srgbClr val="44546A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624634" y="5493068"/>
              <a:ext cx="3135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44546A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~4k</a:t>
              </a:r>
              <a:endParaRPr lang="en-US" sz="1350" dirty="0">
                <a:solidFill>
                  <a:srgbClr val="44546A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539034" y="5493068"/>
              <a:ext cx="3135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44546A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~8k</a:t>
              </a:r>
              <a:endParaRPr lang="en-US" sz="1350" dirty="0">
                <a:solidFill>
                  <a:srgbClr val="44546A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403456" y="5493068"/>
              <a:ext cx="4135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44546A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~15k</a:t>
              </a:r>
              <a:endParaRPr lang="en-US" sz="1350" dirty="0">
                <a:solidFill>
                  <a:srgbClr val="44546A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317856" y="5493068"/>
              <a:ext cx="4135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44546A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~23k</a:t>
              </a:r>
              <a:endParaRPr lang="en-US" sz="1350" dirty="0">
                <a:solidFill>
                  <a:srgbClr val="44546A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232256" y="5493068"/>
              <a:ext cx="4135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44546A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~30k</a:t>
              </a:r>
              <a:endParaRPr lang="en-US" sz="1350" dirty="0">
                <a:solidFill>
                  <a:srgbClr val="44546A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695879" y="2197418"/>
            <a:ext cx="5999893" cy="2692907"/>
            <a:chOff x="1695879" y="2197418"/>
            <a:chExt cx="5999893" cy="2692907"/>
          </a:xfrm>
        </p:grpSpPr>
        <p:sp>
          <p:nvSpPr>
            <p:cNvPr id="26" name="TextBox 26"/>
            <p:cNvSpPr txBox="1"/>
            <p:nvPr/>
          </p:nvSpPr>
          <p:spPr>
            <a:xfrm>
              <a:off x="1695879" y="4626292"/>
              <a:ext cx="5134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0F1423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1.63×</a:t>
              </a:r>
              <a:endParaRPr lang="en-US" sz="1350" dirty="0">
                <a:solidFill>
                  <a:srgbClr val="0F1423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610279" y="4502468"/>
              <a:ext cx="5134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0F1423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2.02×</a:t>
              </a:r>
              <a:endParaRPr lang="en-US" sz="1350" dirty="0">
                <a:solidFill>
                  <a:srgbClr val="0F1423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524679" y="4264342"/>
              <a:ext cx="5134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0F1423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2.76×</a:t>
              </a:r>
              <a:endParaRPr lang="en-US" sz="1350" dirty="0">
                <a:solidFill>
                  <a:srgbClr val="0F1423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439079" y="3854768"/>
              <a:ext cx="5134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0F1423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4.06×</a:t>
              </a:r>
              <a:endParaRPr lang="en-US" sz="1350" dirty="0">
                <a:solidFill>
                  <a:srgbClr val="0F1423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353479" y="2987992"/>
              <a:ext cx="5134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0F1423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6.81×</a:t>
              </a:r>
              <a:endParaRPr lang="en-US" sz="1350" dirty="0">
                <a:solidFill>
                  <a:srgbClr val="0F1423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267879" y="2702242"/>
              <a:ext cx="5134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0F1423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7.71×</a:t>
              </a:r>
              <a:endParaRPr lang="en-US" sz="1350" dirty="0">
                <a:solidFill>
                  <a:srgbClr val="0F1423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182279" y="2197418"/>
              <a:ext cx="5134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0F1423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9.32×</a:t>
              </a:r>
              <a:endParaRPr lang="en-US" sz="1350" dirty="0">
                <a:solidFill>
                  <a:srgbClr val="0F1423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8991600" y="1714500"/>
            <a:ext cx="2716517" cy="4305300"/>
            <a:chOff x="8991600" y="1714500"/>
            <a:chExt cx="2716517" cy="4305300"/>
          </a:xfrm>
        </p:grpSpPr>
        <p:sp>
          <p:nvSpPr>
            <p:cNvPr id="34" name="Rectangle 34"/>
            <p:cNvSpPr/>
            <p:nvPr/>
          </p:nvSpPr>
          <p:spPr>
            <a:xfrm>
              <a:off x="8991600" y="1714500"/>
              <a:ext cx="2514600" cy="4305300"/>
            </a:xfrm>
            <a:prstGeom prst="roundRect">
              <a:avLst>
                <a:gd name="adj" fmla="val 6818"/>
              </a:avLst>
            </a:prstGeom>
            <a:solidFill>
              <a:srgbClr val="F4F8FF"/>
            </a:solidFill>
            <a:ln w="9525">
              <a:solidFill>
                <a:srgbClr val="C9D9F2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9285732" y="1945005"/>
              <a:ext cx="58674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002060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结论</a:t>
              </a:r>
              <a:endParaRPr lang="zh-CN" sz="210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225915" y="2595880"/>
              <a:ext cx="2320925" cy="2533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加速收益随上下文长度</a:t>
              </a:r>
              <a:endParaRPr 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364853" y="291179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持续扩大</a:t>
              </a:r>
              <a:endParaRPr 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225788" y="3422332"/>
              <a:ext cx="198255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省下的重算比例从</a:t>
              </a:r>
              <a:endParaRPr 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285478" y="3746182"/>
              <a:ext cx="214914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约 39% 提升到约 89%</a:t>
              </a:r>
              <a:endParaRPr 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225788" y="4242117"/>
              <a:ext cx="248232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约 30k 上下文场景下，</a:t>
              </a:r>
              <a:endParaRPr 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364853" y="4565332"/>
              <a:ext cx="17686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TTFT 从 3806 ms</a:t>
              </a:r>
              <a:endParaRPr 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364853" y="4867592"/>
              <a:ext cx="124954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降到 408 ms</a:t>
              </a:r>
              <a:endParaRPr 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44" name="TextBox 44"/>
          <p:cNvSpPr txBox="1"/>
          <p:nvPr/>
        </p:nvSpPr>
        <p:spPr>
          <a:xfrm>
            <a:off x="11208106" y="6404610"/>
            <a:ext cx="1898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6B728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12</a:t>
            </a:r>
            <a:endParaRPr lang="en-US" sz="1200" dirty="0">
              <a:solidFill>
                <a:srgbClr val="6B728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13970" y="-6985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457200" y="800100"/>
            <a:ext cx="11277600" cy="38100"/>
          </a:xfrm>
          <a:prstGeom prst="rect">
            <a:avLst/>
          </a:prstGeom>
          <a:solidFill>
            <a:srgbClr val="00B0F0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18160" y="209550"/>
            <a:ext cx="568452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rPr>
              <a:t>成果三：容量优势与 APC 对比</a:t>
            </a:r>
            <a:endParaRPr lang="zh-CN" sz="3000" dirty="0">
              <a:solidFill>
                <a:srgbClr val="002060"/>
              </a:solidFill>
              <a:latin typeface="Arial" panose="020B0604020202020204"/>
              <a:ea typeface="黑体" panose="02010609060101010101" charset="-122"/>
              <a:cs typeface="Arial" panose="020B0604020202020204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22732" y="954405"/>
            <a:ext cx="11562952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44546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一旦工作集超出 GPU 容量，MiniFlex 的 CPU-backed 复用路径会明显比原生 APC 更稳定。</a:t>
            </a:r>
            <a:endParaRPr lang="zh-CN" sz="2100" dirty="0">
              <a:solidFill>
                <a:srgbClr val="44546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685800" y="1714500"/>
            <a:ext cx="7810500" cy="4305300"/>
          </a:xfrm>
          <a:prstGeom prst="roundRect">
            <a:avLst>
              <a:gd name="adj" fmla="val 3982"/>
            </a:avLst>
          </a:prstGeom>
          <a:solidFill>
            <a:srgbClr val="FFFFFF"/>
          </a:solidFill>
          <a:ln w="9525">
            <a:solidFill>
              <a:srgbClr val="C9D9F2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979932" y="1868805"/>
            <a:ext cx="2309622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rPr>
              <a:t>TTFT 对比（ms）</a:t>
            </a:r>
            <a:endParaRPr lang="zh-CN" sz="2100" dirty="0">
              <a:solidFill>
                <a:srgbClr val="002060"/>
              </a:solidFill>
              <a:latin typeface="Arial" panose="020B0604020202020204"/>
              <a:ea typeface="黑体" panose="02010609060101010101" charset="-122"/>
              <a:cs typeface="Arial" panose="020B0604020202020204"/>
            </a:endParaRPr>
          </a:p>
        </p:txBody>
      </p:sp>
      <p:sp>
        <p:nvSpPr>
          <p:cNvPr id="8" name="Line 8"/>
          <p:cNvSpPr/>
          <p:nvPr/>
        </p:nvSpPr>
        <p:spPr>
          <a:xfrm>
            <a:off x="1371600" y="5372100"/>
            <a:ext cx="6667500" cy="9525"/>
          </a:xfrm>
          <a:custGeom>
            <a:avLst/>
            <a:gdLst/>
            <a:ahLst/>
            <a:cxnLst/>
            <a:rect l="l" t="t" r="r" b="b"/>
            <a:pathLst>
              <a:path w="6667500" h="9525">
                <a:moveTo>
                  <a:pt x="0" y="0"/>
                </a:moveTo>
                <a:lnTo>
                  <a:pt x="6667500" y="0"/>
                </a:lnTo>
              </a:path>
            </a:pathLst>
          </a:custGeom>
          <a:noFill/>
          <a:ln w="19050">
            <a:solidFill>
              <a:srgbClr val="AABEDC"/>
            </a:solidFill>
          </a:ln>
        </p:spPr>
      </p:sp>
      <p:sp>
        <p:nvSpPr>
          <p:cNvPr id="9" name="Line 9"/>
          <p:cNvSpPr/>
          <p:nvPr/>
        </p:nvSpPr>
        <p:spPr>
          <a:xfrm>
            <a:off x="1371600" y="2381250"/>
            <a:ext cx="9525" cy="2990850"/>
          </a:xfrm>
          <a:custGeom>
            <a:avLst/>
            <a:gdLst/>
            <a:ahLst/>
            <a:cxnLst/>
            <a:rect l="l" t="t" r="r" b="b"/>
            <a:pathLst>
              <a:path w="9525" h="2990850">
                <a:moveTo>
                  <a:pt x="0" y="0"/>
                </a:moveTo>
                <a:lnTo>
                  <a:pt x="0" y="2990850"/>
                </a:lnTo>
              </a:path>
            </a:pathLst>
          </a:custGeom>
          <a:noFill/>
          <a:ln w="19050">
            <a:solidFill>
              <a:srgbClr val="AABEDC"/>
            </a:solidFill>
          </a:ln>
        </p:spPr>
      </p:sp>
      <p:grpSp>
        <p:nvGrpSpPr>
          <p:cNvPr id="16" name="Group 16"/>
          <p:cNvGrpSpPr/>
          <p:nvPr/>
        </p:nvGrpSpPr>
        <p:grpSpPr>
          <a:xfrm>
            <a:off x="1828800" y="2867025"/>
            <a:ext cx="4895850" cy="2505075"/>
            <a:chOff x="1828800" y="2867025"/>
            <a:chExt cx="4895850" cy="2505075"/>
          </a:xfrm>
        </p:grpSpPr>
        <p:sp>
          <p:nvSpPr>
            <p:cNvPr id="10" name="Rectangle 10"/>
            <p:cNvSpPr/>
            <p:nvPr/>
          </p:nvSpPr>
          <p:spPr>
            <a:xfrm>
              <a:off x="1828800" y="5019675"/>
              <a:ext cx="438150" cy="352425"/>
            </a:xfrm>
            <a:prstGeom prst="roundRect">
              <a:avLst>
                <a:gd name="adj" fmla="val 16216"/>
              </a:avLst>
            </a:prstGeom>
            <a:solidFill>
              <a:srgbClr val="6096E6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2324100" y="4657725"/>
              <a:ext cx="438150" cy="714375"/>
            </a:xfrm>
            <a:prstGeom prst="roundRect">
              <a:avLst>
                <a:gd name="adj" fmla="val 13043"/>
              </a:avLst>
            </a:prstGeom>
            <a:solidFill>
              <a:srgbClr val="002060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3810000" y="2924175"/>
              <a:ext cx="438150" cy="2447925"/>
            </a:xfrm>
            <a:prstGeom prst="roundRect">
              <a:avLst>
                <a:gd name="adj" fmla="val 13043"/>
              </a:avLst>
            </a:prstGeom>
            <a:solidFill>
              <a:srgbClr val="6096E6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4305300" y="4686300"/>
              <a:ext cx="438150" cy="685800"/>
            </a:xfrm>
            <a:prstGeom prst="roundRect">
              <a:avLst>
                <a:gd name="adj" fmla="val 13043"/>
              </a:avLst>
            </a:prstGeom>
            <a:solidFill>
              <a:srgbClr val="002060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5791200" y="2867025"/>
              <a:ext cx="438150" cy="2505075"/>
            </a:xfrm>
            <a:prstGeom prst="roundRect">
              <a:avLst>
                <a:gd name="adj" fmla="val 13043"/>
              </a:avLst>
            </a:prstGeom>
            <a:solidFill>
              <a:srgbClr val="6096E6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6286500" y="4695825"/>
              <a:ext cx="438150" cy="676275"/>
            </a:xfrm>
            <a:prstGeom prst="roundRect">
              <a:avLst>
                <a:gd name="adj" fmla="val 13043"/>
              </a:avLst>
            </a:prstGeom>
            <a:solidFill>
              <a:srgbClr val="002060"/>
            </a:solidFill>
            <a:ln>
              <a:noFill/>
            </a:ln>
          </p:spPr>
        </p:sp>
      </p:grpSp>
      <p:grpSp>
        <p:nvGrpSpPr>
          <p:cNvPr id="23" name="Group 23"/>
          <p:cNvGrpSpPr/>
          <p:nvPr/>
        </p:nvGrpSpPr>
        <p:grpSpPr>
          <a:xfrm>
            <a:off x="1946996" y="2634139"/>
            <a:ext cx="4706660" cy="2402014"/>
            <a:chOff x="1946996" y="2634139"/>
            <a:chExt cx="4706660" cy="2402014"/>
          </a:xfrm>
        </p:grpSpPr>
        <p:sp>
          <p:nvSpPr>
            <p:cNvPr id="17" name="TextBox 17"/>
            <p:cNvSpPr txBox="1"/>
            <p:nvPr/>
          </p:nvSpPr>
          <p:spPr>
            <a:xfrm>
              <a:off x="1946996" y="4786789"/>
              <a:ext cx="20175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0F1423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95</a:t>
              </a:r>
              <a:endParaRPr lang="en-US" sz="1280" dirty="0">
                <a:solidFill>
                  <a:srgbClr val="0F1423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395095" y="4424839"/>
              <a:ext cx="2961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0F1423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199</a:t>
              </a:r>
              <a:endParaRPr lang="en-US" sz="1280" dirty="0">
                <a:solidFill>
                  <a:srgbClr val="0F1423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880995" y="2691289"/>
              <a:ext cx="2961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0F1423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684</a:t>
              </a:r>
              <a:endParaRPr lang="en-US" sz="1280" dirty="0">
                <a:solidFill>
                  <a:srgbClr val="0F1423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376295" y="4453414"/>
              <a:ext cx="2961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0F1423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191</a:t>
              </a:r>
              <a:endParaRPr lang="en-US" sz="1280" dirty="0">
                <a:solidFill>
                  <a:srgbClr val="0F1423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862195" y="2634139"/>
              <a:ext cx="2961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0F1423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700</a:t>
              </a:r>
              <a:endParaRPr lang="en-US" sz="1280" dirty="0">
                <a:solidFill>
                  <a:srgbClr val="0F1423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357495" y="4462939"/>
              <a:ext cx="2961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0F1423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190</a:t>
              </a:r>
              <a:endParaRPr lang="en-US" sz="1280" dirty="0">
                <a:solidFill>
                  <a:srgbClr val="0F1423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2088756" y="5531168"/>
            <a:ext cx="4425916" cy="264033"/>
            <a:chOff x="2088756" y="5531168"/>
            <a:chExt cx="4425916" cy="264033"/>
          </a:xfrm>
        </p:grpSpPr>
        <p:sp>
          <p:nvSpPr>
            <p:cNvPr id="24" name="TextBox 24"/>
            <p:cNvSpPr txBox="1"/>
            <p:nvPr/>
          </p:nvSpPr>
          <p:spPr>
            <a:xfrm>
              <a:off x="2088756" y="5531168"/>
              <a:ext cx="4135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44546A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~45k</a:t>
              </a:r>
              <a:endParaRPr lang="en-US" sz="1350" dirty="0">
                <a:solidFill>
                  <a:srgbClr val="44546A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069956" y="5531168"/>
              <a:ext cx="4135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44546A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~75k</a:t>
              </a:r>
              <a:endParaRPr lang="en-US" sz="1350" dirty="0">
                <a:solidFill>
                  <a:srgbClr val="44546A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001179" y="5531168"/>
              <a:ext cx="5134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44546A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~105k</a:t>
              </a:r>
              <a:endParaRPr lang="en-US" sz="1350" dirty="0">
                <a:solidFill>
                  <a:srgbClr val="44546A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28" name="Rectangle 28"/>
          <p:cNvSpPr/>
          <p:nvPr/>
        </p:nvSpPr>
        <p:spPr>
          <a:xfrm>
            <a:off x="1581150" y="5848350"/>
            <a:ext cx="152400" cy="152400"/>
          </a:xfrm>
          <a:prstGeom prst="rect">
            <a:avLst/>
          </a:prstGeom>
          <a:solidFill>
            <a:srgbClr val="6096E6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1821942" y="5835968"/>
            <a:ext cx="33055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44546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APC</a:t>
            </a:r>
            <a:endParaRPr lang="en-US" sz="1350" dirty="0">
              <a:solidFill>
                <a:srgbClr val="44546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0" name="Rectangle 30"/>
          <p:cNvSpPr/>
          <p:nvPr/>
        </p:nvSpPr>
        <p:spPr>
          <a:xfrm>
            <a:off x="2533650" y="5848350"/>
            <a:ext cx="152400" cy="152400"/>
          </a:xfrm>
          <a:prstGeom prst="rect">
            <a:avLst/>
          </a:prstGeom>
          <a:solidFill>
            <a:srgbClr val="002060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2774442" y="5835968"/>
            <a:ext cx="72330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44546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MiniFlex</a:t>
            </a:r>
            <a:endParaRPr lang="en-US" sz="1350" dirty="0">
              <a:solidFill>
                <a:srgbClr val="44546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grpSp>
        <p:nvGrpSpPr>
          <p:cNvPr id="40" name="Group 40"/>
          <p:cNvGrpSpPr/>
          <p:nvPr/>
        </p:nvGrpSpPr>
        <p:grpSpPr>
          <a:xfrm>
            <a:off x="8801100" y="1714500"/>
            <a:ext cx="2705100" cy="4305300"/>
            <a:chOff x="8801100" y="1714500"/>
            <a:chExt cx="2705100" cy="4305300"/>
          </a:xfrm>
        </p:grpSpPr>
        <p:sp>
          <p:nvSpPr>
            <p:cNvPr id="32" name="Rectangle 32"/>
            <p:cNvSpPr/>
            <p:nvPr/>
          </p:nvSpPr>
          <p:spPr>
            <a:xfrm>
              <a:off x="8801100" y="1714500"/>
              <a:ext cx="2705100" cy="4305300"/>
            </a:xfrm>
            <a:prstGeom prst="roundRect">
              <a:avLst>
                <a:gd name="adj" fmla="val 6338"/>
              </a:avLst>
            </a:prstGeom>
            <a:solidFill>
              <a:srgbClr val="F4F8FF"/>
            </a:solidFill>
            <a:ln w="9525">
              <a:solidFill>
                <a:srgbClr val="C9D9F2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095232" y="1945005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002060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关键信息</a:t>
              </a:r>
              <a:endParaRPr lang="zh-CN" sz="210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019540" y="2447925"/>
              <a:ext cx="2378075" cy="5073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~45k 工作集仍装得进 </a:t>
              </a:r>
              <a:r>
                <a:rPr lang="en-US" alt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     </a:t>
              </a:r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GPU 时，</a:t>
              </a:r>
              <a:endParaRPr 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904603" y="2691447"/>
              <a:ext cx="141320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APC 命中更快</a:t>
              </a:r>
              <a:endParaRPr 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019540" y="3290570"/>
              <a:ext cx="2298065" cy="10153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一旦工作集超过 GPU KV 容量，</a:t>
              </a:r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  <a:sym typeface="+mn-ea"/>
                </a:rPr>
                <a:t>APC 迅速出现 100% miss</a:t>
              </a:r>
              <a:endParaRPr 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  <a:p>
              <a:pPr algn="l"/>
              <a:endParaRPr 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019540" y="4424680"/>
              <a:ext cx="2378075" cy="10153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MiniFlex 通过 CPU 层承接溢出，</a:t>
              </a:r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  <a:sym typeface="+mn-ea"/>
                </a:rPr>
                <a:t>仍维持约 190 ms 且0% miss</a:t>
              </a:r>
              <a:endParaRPr 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  <a:p>
              <a:pPr algn="l"/>
              <a:endParaRPr 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11208106" y="6404610"/>
            <a:ext cx="1898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6B728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13</a:t>
            </a:r>
            <a:endParaRPr lang="en-US" sz="1200" dirty="0">
              <a:solidFill>
                <a:srgbClr val="6B728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457200" y="800100"/>
            <a:ext cx="11277600" cy="38100"/>
          </a:xfrm>
          <a:prstGeom prst="rect">
            <a:avLst/>
          </a:prstGeom>
          <a:solidFill>
            <a:srgbClr val="00B0F0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18160" y="209550"/>
            <a:ext cx="528066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rPr>
              <a:t>成果四：混合负载与指标体系</a:t>
            </a:r>
            <a:endParaRPr lang="zh-CN" sz="3000" dirty="0">
              <a:solidFill>
                <a:srgbClr val="002060"/>
              </a:solidFill>
              <a:latin typeface="Arial" panose="020B0604020202020204"/>
              <a:ea typeface="黑体" panose="02010609060101010101" charset="-122"/>
              <a:cs typeface="Arial" panose="020B0604020202020204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22732" y="954405"/>
            <a:ext cx="12316303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44546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在热点与长尾共存的真实负载里，MiniFlex 与 APC 组合能在速度与容量之间取得更平衡的效果。</a:t>
            </a:r>
            <a:endParaRPr lang="zh-CN" sz="2100" dirty="0">
              <a:solidFill>
                <a:srgbClr val="44546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685800" y="1714500"/>
            <a:ext cx="10820400" cy="2609215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C9D9F2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979932" y="1868805"/>
            <a:ext cx="3644456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rPr>
              <a:t>混合负载结果（TTFT, ms）</a:t>
            </a:r>
            <a:endParaRPr lang="zh-CN" sz="2100" dirty="0">
              <a:solidFill>
                <a:srgbClr val="002060"/>
              </a:solidFill>
              <a:latin typeface="Arial" panose="020B0604020202020204"/>
              <a:ea typeface="黑体" panose="02010609060101010101" charset="-122"/>
              <a:cs typeface="Arial" panose="020B0604020202020204"/>
            </a:endParaRPr>
          </a:p>
        </p:txBody>
      </p:sp>
      <p:sp>
        <p:nvSpPr>
          <p:cNvPr id="8" name="Rectangle 8"/>
          <p:cNvSpPr/>
          <p:nvPr/>
        </p:nvSpPr>
        <p:spPr>
          <a:xfrm>
            <a:off x="990600" y="2362200"/>
            <a:ext cx="10210800" cy="514350"/>
          </a:xfrm>
          <a:prstGeom prst="rect">
            <a:avLst/>
          </a:prstGeom>
          <a:solidFill>
            <a:srgbClr val="002060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503045" y="2517458"/>
            <a:ext cx="46101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配置</a:t>
            </a:r>
            <a:endParaRPr lang="zh-CN" sz="1650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4342267" y="2517458"/>
            <a:ext cx="383267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650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hot</a:t>
            </a:r>
            <a:endParaRPr lang="en-US" sz="1650" dirty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6413163" y="2517458"/>
            <a:ext cx="394373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650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tail</a:t>
            </a:r>
            <a:endParaRPr lang="en-US" sz="1650" dirty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8534962" y="2517458"/>
            <a:ext cx="76087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650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overall</a:t>
            </a:r>
            <a:endParaRPr lang="en-US" sz="1650" dirty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grpSp>
        <p:nvGrpSpPr>
          <p:cNvPr id="28" name="Group 28"/>
          <p:cNvGrpSpPr/>
          <p:nvPr/>
        </p:nvGrpSpPr>
        <p:grpSpPr>
          <a:xfrm>
            <a:off x="967607" y="2876550"/>
            <a:ext cx="10233793" cy="1314450"/>
            <a:chOff x="967607" y="2876550"/>
            <a:chExt cx="10233793" cy="1314450"/>
          </a:xfrm>
        </p:grpSpPr>
        <p:sp>
          <p:nvSpPr>
            <p:cNvPr id="13" name="Rectangle 13"/>
            <p:cNvSpPr/>
            <p:nvPr/>
          </p:nvSpPr>
          <p:spPr>
            <a:xfrm>
              <a:off x="990600" y="2876550"/>
              <a:ext cx="10210800" cy="438150"/>
            </a:xfrm>
            <a:prstGeom prst="rect">
              <a:avLst/>
            </a:prstGeom>
            <a:solidFill>
              <a:srgbClr val="F4F8F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531544" y="2984182"/>
              <a:ext cx="40401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dirty="0">
                  <a:solidFill>
                    <a:srgbClr val="0F1423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APC</a:t>
              </a:r>
              <a:endParaRPr lang="en-US" sz="1650" dirty="0">
                <a:solidFill>
                  <a:srgbClr val="0F1423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403350" y="2984182"/>
              <a:ext cx="26109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dirty="0">
                  <a:solidFill>
                    <a:srgbClr val="0F1423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60</a:t>
              </a:r>
              <a:endParaRPr lang="en-US" sz="1650" dirty="0">
                <a:solidFill>
                  <a:srgbClr val="0F1423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418717" y="2984182"/>
              <a:ext cx="38326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dirty="0">
                  <a:solidFill>
                    <a:srgbClr val="0F1423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707</a:t>
              </a:r>
              <a:endParaRPr lang="en-US" sz="1650" dirty="0">
                <a:solidFill>
                  <a:srgbClr val="0F1423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723767" y="2984182"/>
              <a:ext cx="38326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dirty="0">
                  <a:solidFill>
                    <a:srgbClr val="0F1423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515</a:t>
              </a:r>
              <a:endParaRPr lang="en-US" sz="1650" dirty="0">
                <a:solidFill>
                  <a:srgbClr val="0F1423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990600" y="3314700"/>
              <a:ext cx="10210800" cy="4381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291530" y="3422332"/>
              <a:ext cx="8840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dirty="0">
                  <a:solidFill>
                    <a:srgbClr val="0F1423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MiniFlex</a:t>
              </a:r>
              <a:endParaRPr lang="en-US" sz="1650" dirty="0">
                <a:solidFill>
                  <a:srgbClr val="0F1423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342267" y="3422332"/>
              <a:ext cx="38326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dirty="0">
                  <a:solidFill>
                    <a:srgbClr val="0F1423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103</a:t>
              </a:r>
              <a:endParaRPr lang="en-US" sz="1650" dirty="0">
                <a:solidFill>
                  <a:srgbClr val="0F1423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418717" y="3422332"/>
              <a:ext cx="38326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dirty="0">
                  <a:solidFill>
                    <a:srgbClr val="0F1423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177</a:t>
              </a:r>
              <a:endParaRPr lang="en-US" sz="1650" dirty="0">
                <a:solidFill>
                  <a:srgbClr val="0F1423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723767" y="3422332"/>
              <a:ext cx="38326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dirty="0">
                  <a:solidFill>
                    <a:srgbClr val="0F1423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153</a:t>
              </a:r>
              <a:endParaRPr lang="en-US" sz="1650" dirty="0">
                <a:solidFill>
                  <a:srgbClr val="0F1423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990600" y="3752850"/>
              <a:ext cx="10210800" cy="438150"/>
            </a:xfrm>
            <a:prstGeom prst="rect">
              <a:avLst/>
            </a:prstGeom>
            <a:solidFill>
              <a:srgbClr val="EAF3F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67607" y="3860482"/>
              <a:ext cx="153188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dirty="0">
                  <a:solidFill>
                    <a:srgbClr val="0F1423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APC + MiniFlex</a:t>
              </a:r>
              <a:endParaRPr lang="en-US" sz="1650" dirty="0">
                <a:solidFill>
                  <a:srgbClr val="0F1423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403350" y="3860482"/>
              <a:ext cx="26109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dirty="0">
                  <a:solidFill>
                    <a:srgbClr val="0F1423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67</a:t>
              </a:r>
              <a:endParaRPr lang="en-US" sz="1650" dirty="0">
                <a:solidFill>
                  <a:srgbClr val="0F1423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418717" y="3860482"/>
              <a:ext cx="38326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dirty="0">
                  <a:solidFill>
                    <a:srgbClr val="0F1423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188</a:t>
              </a:r>
              <a:endParaRPr lang="en-US" sz="1650" dirty="0">
                <a:solidFill>
                  <a:srgbClr val="0F1423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723767" y="3860482"/>
              <a:ext cx="38326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dirty="0">
                  <a:solidFill>
                    <a:srgbClr val="0F1423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165</a:t>
              </a:r>
              <a:endParaRPr lang="en-US" sz="1650" dirty="0">
                <a:solidFill>
                  <a:srgbClr val="0F1423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730250" y="4519930"/>
            <a:ext cx="5200650" cy="1868805"/>
            <a:chOff x="730250" y="4519930"/>
            <a:chExt cx="5200650" cy="1676400"/>
          </a:xfrm>
        </p:grpSpPr>
        <p:sp>
          <p:nvSpPr>
            <p:cNvPr id="29" name="Rectangle 29"/>
            <p:cNvSpPr/>
            <p:nvPr/>
          </p:nvSpPr>
          <p:spPr>
            <a:xfrm>
              <a:off x="730250" y="4519930"/>
              <a:ext cx="5200650" cy="1676400"/>
            </a:xfrm>
            <a:prstGeom prst="roundRect">
              <a:avLst>
                <a:gd name="adj" fmla="val 10227"/>
              </a:avLst>
            </a:prstGeom>
            <a:solidFill>
              <a:srgbClr val="F4F8FF"/>
            </a:solidFill>
            <a:ln w="9525">
              <a:solidFill>
                <a:srgbClr val="C9D9F2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990727" y="4728845"/>
              <a:ext cx="1152144" cy="28936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002060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结果解读</a:t>
              </a:r>
              <a:endParaRPr lang="zh-CN" sz="210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90473" y="5103812"/>
              <a:ext cx="4207764" cy="97040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550"/>
                </a:lnSpc>
              </a:pPr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APC 更擅长热点数据留在 GPU 的极快命中</a:t>
              </a:r>
              <a:endParaRPr 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  <a:p>
              <a:pPr algn="l">
                <a:lnSpc>
                  <a:spcPts val="2550"/>
                </a:lnSpc>
              </a:pPr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MiniFlex 更擅长长尾超容量场景的稳定复用</a:t>
              </a:r>
              <a:endParaRPr 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  <a:p>
              <a:pPr algn="l">
                <a:lnSpc>
                  <a:spcPts val="2550"/>
                </a:lnSpc>
              </a:pPr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两者叠加后更贴近真实业务的混合负载</a:t>
              </a:r>
              <a:endParaRPr 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245860" y="4519930"/>
            <a:ext cx="5200650" cy="1864996"/>
            <a:chOff x="6245860" y="4683683"/>
            <a:chExt cx="5200650" cy="1779561"/>
          </a:xfrm>
        </p:grpSpPr>
        <p:sp>
          <p:nvSpPr>
            <p:cNvPr id="33" name="Rectangle 33"/>
            <p:cNvSpPr/>
            <p:nvPr/>
          </p:nvSpPr>
          <p:spPr>
            <a:xfrm>
              <a:off x="6245860" y="4683683"/>
              <a:ext cx="5200650" cy="1746235"/>
            </a:xfrm>
            <a:prstGeom prst="roundRect">
              <a:avLst>
                <a:gd name="adj" fmla="val 10227"/>
              </a:avLst>
            </a:prstGeom>
            <a:solidFill>
              <a:srgbClr val="F4F8FF"/>
            </a:solidFill>
            <a:ln w="9525">
              <a:solidFill>
                <a:srgbClr val="C9D9F2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510782" y="4847624"/>
              <a:ext cx="1717548" cy="30780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002060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当前指标体系</a:t>
              </a:r>
              <a:endParaRPr lang="zh-CN" sz="210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18580" y="5169114"/>
              <a:ext cx="4590415" cy="129413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550"/>
                </a:lnSpc>
              </a:pPr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服务可用性：成功率、失败率</a:t>
              </a:r>
              <a:endParaRPr 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  <a:p>
              <a:pPr algn="l">
                <a:lnSpc>
                  <a:spcPts val="2550"/>
                </a:lnSpc>
              </a:pPr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核心性能：TTFT、TPOT、吞吐</a:t>
              </a:r>
              <a:endParaRPr 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  <a:p>
              <a:pPr algn="l">
                <a:lnSpc>
                  <a:spcPts val="2550"/>
                </a:lnSpc>
              </a:pPr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缓存行为：KV 使用率、prefix 命中</a:t>
              </a:r>
              <a:endParaRPr 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  <a:p>
              <a:pPr algn="l">
                <a:lnSpc>
                  <a:spcPts val="2550"/>
                </a:lnSpc>
              </a:pPr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资源压力：GPU / CPU 占用与上下文分档</a:t>
              </a:r>
              <a:endParaRPr 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11208106" y="6404610"/>
            <a:ext cx="1898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6B728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14</a:t>
            </a:r>
            <a:endParaRPr lang="en-US" sz="1200" dirty="0">
              <a:solidFill>
                <a:srgbClr val="6B728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/>
          <p:nvPr/>
        </p:nvSpPr>
        <p:spPr>
          <a:xfrm>
            <a:off x="457200" y="800100"/>
            <a:ext cx="11277600" cy="38100"/>
          </a:xfrm>
          <a:prstGeom prst="rect">
            <a:avLst/>
          </a:prstGeom>
          <a:solidFill>
            <a:srgbClr val="00B0F0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18160" y="209550"/>
            <a:ext cx="4735449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rPr>
              <a:t>创新点与增量贡献（1/2）</a:t>
            </a:r>
            <a:endParaRPr lang="zh-CN" sz="3000" dirty="0">
              <a:solidFill>
                <a:srgbClr val="002060"/>
              </a:solidFill>
              <a:latin typeface="Arial" panose="020B0604020202020204"/>
              <a:ea typeface="黑体" panose="02010609060101010101" charset="-122"/>
              <a:cs typeface="Arial" panose="020B0604020202020204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23875" y="978535"/>
            <a:ext cx="11242040" cy="144589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rgbClr val="44546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本项目参考了开源项目FlexKV 的部分思路</a:t>
            </a:r>
            <a:r>
              <a:rPr lang="en-US" altLang="zh-CN" sz="1880" dirty="0">
                <a:solidFill>
                  <a:srgbClr val="44546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,</a:t>
            </a:r>
            <a:endParaRPr lang="zh-CN" sz="1880" dirty="0">
              <a:solidFill>
                <a:srgbClr val="44546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l"/>
            <a:r>
              <a:rPr lang="zh-CN" sz="1880" dirty="0">
                <a:solidFill>
                  <a:srgbClr val="44546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本页展示与版本适配、任务管理和布局解耦相关的代表性增量贡献。</a:t>
            </a:r>
            <a:endParaRPr lang="zh-CN" sz="1880" dirty="0">
              <a:solidFill>
                <a:srgbClr val="44546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l"/>
            <a:endParaRPr lang="zh-CN" sz="1880" dirty="0">
              <a:solidFill>
                <a:srgbClr val="44546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l"/>
            <a:r>
              <a:rPr lang="zh-CN" sz="1880" dirty="0">
                <a:solidFill>
                  <a:schemeClr val="tx1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在项目开发期间，我队还积极与</a:t>
            </a:r>
            <a:r>
              <a:rPr lang="en-US" altLang="zh-CN" sz="1880" dirty="0">
                <a:solidFill>
                  <a:schemeClr val="tx1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FlexKv</a:t>
            </a:r>
            <a:r>
              <a:rPr lang="zh-CN" altLang="en-US" sz="1880" dirty="0">
                <a:solidFill>
                  <a:schemeClr val="tx1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开发者沟通，并累计形成</a:t>
            </a:r>
            <a:r>
              <a:rPr lang="en-US" altLang="zh-CN" sz="1880" dirty="0">
                <a:solidFill>
                  <a:schemeClr val="tx1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 8 </a:t>
            </a:r>
            <a:r>
              <a:rPr lang="zh-CN" altLang="en-US" sz="1880" dirty="0">
                <a:solidFill>
                  <a:schemeClr val="tx1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项公开开发记录，其中包括</a:t>
            </a:r>
            <a:r>
              <a:rPr lang="en-US" altLang="zh-CN" sz="1880" dirty="0">
                <a:solidFill>
                  <a:schemeClr val="tx1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 6 </a:t>
            </a:r>
            <a:r>
              <a:rPr lang="zh-CN" altLang="en-US" sz="1880" dirty="0">
                <a:solidFill>
                  <a:schemeClr val="tx1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项已合并</a:t>
            </a:r>
            <a:r>
              <a:rPr lang="en-US" altLang="zh-CN" sz="1880" dirty="0">
                <a:solidFill>
                  <a:schemeClr val="tx1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 PR</a:t>
            </a:r>
            <a:r>
              <a:rPr lang="zh-CN" altLang="en-US" sz="1880" dirty="0">
                <a:solidFill>
                  <a:schemeClr val="tx1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、</a:t>
            </a:r>
            <a:r>
              <a:rPr lang="en-US" altLang="zh-CN" sz="1880" dirty="0">
                <a:solidFill>
                  <a:schemeClr val="tx1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 </a:t>
            </a:r>
            <a:r>
              <a:rPr lang="zh-CN" altLang="en-US" sz="1880" dirty="0">
                <a:solidFill>
                  <a:schemeClr val="tx1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项待合并</a:t>
            </a:r>
            <a:r>
              <a:rPr lang="en-US" altLang="zh-CN" sz="1880" dirty="0">
                <a:solidFill>
                  <a:schemeClr val="tx1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 PR </a:t>
            </a:r>
            <a:r>
              <a:rPr lang="zh-CN" altLang="en-US" sz="1880" dirty="0">
                <a:solidFill>
                  <a:schemeClr val="tx1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和</a:t>
            </a:r>
            <a:r>
              <a:rPr lang="en-US" altLang="zh-CN" sz="1880" dirty="0">
                <a:solidFill>
                  <a:schemeClr val="tx1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 1 </a:t>
            </a:r>
            <a:r>
              <a:rPr lang="zh-CN" altLang="en-US" sz="1880" dirty="0">
                <a:solidFill>
                  <a:schemeClr val="tx1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项</a:t>
            </a:r>
            <a:r>
              <a:rPr lang="en-US" altLang="zh-CN" sz="1880" dirty="0">
                <a:solidFill>
                  <a:schemeClr val="tx1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 Issue </a:t>
            </a:r>
            <a:r>
              <a:rPr lang="zh-CN" altLang="en-US" sz="1880" dirty="0">
                <a:solidFill>
                  <a:schemeClr val="tx1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讨论，体现了我队对项目的持续投入。</a:t>
            </a:r>
            <a:endParaRPr lang="zh-CN" altLang="en-US" sz="1880" dirty="0">
              <a:solidFill>
                <a:schemeClr val="tx1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grpSp>
        <p:nvGrpSpPr>
          <p:cNvPr id="11" name="Group 11"/>
          <p:cNvGrpSpPr/>
          <p:nvPr>
            <p:custDataLst>
              <p:tags r:id="rId1"/>
            </p:custDataLst>
          </p:nvPr>
        </p:nvGrpSpPr>
        <p:grpSpPr>
          <a:xfrm>
            <a:off x="631190" y="2642870"/>
            <a:ext cx="5219700" cy="1796415"/>
            <a:chOff x="685800" y="1826260"/>
            <a:chExt cx="5219700" cy="1796415"/>
          </a:xfrm>
        </p:grpSpPr>
        <p:sp>
          <p:nvSpPr>
            <p:cNvPr id="6" name="Rectangle 6"/>
            <p:cNvSpPr/>
            <p:nvPr>
              <p:custDataLst>
                <p:tags r:id="rId2"/>
              </p:custDataLst>
            </p:nvPr>
          </p:nvSpPr>
          <p:spPr>
            <a:xfrm>
              <a:off x="685800" y="1826260"/>
              <a:ext cx="5219700" cy="1796415"/>
            </a:xfrm>
            <a:prstGeom prst="roundRect">
              <a:avLst>
                <a:gd name="adj" fmla="val 11538"/>
              </a:avLst>
            </a:prstGeom>
            <a:solidFill>
              <a:srgbClr val="F4F8FF"/>
            </a:solidFill>
            <a:ln w="9525">
              <a:solidFill>
                <a:srgbClr val="C9D9F2"/>
              </a:solidFill>
            </a:ln>
          </p:spPr>
        </p:sp>
        <p:sp>
          <p:nvSpPr>
            <p:cNvPr id="7" name="Ellipse 7"/>
            <p:cNvSpPr/>
            <p:nvPr>
              <p:custDataLst>
                <p:tags r:id="rId3"/>
              </p:custDataLst>
            </p:nvPr>
          </p:nvSpPr>
          <p:spPr>
            <a:xfrm>
              <a:off x="895350" y="2058670"/>
              <a:ext cx="342900" cy="342900"/>
            </a:xfrm>
            <a:prstGeom prst="ellipse">
              <a:avLst/>
            </a:prstGeom>
            <a:solidFill>
              <a:srgbClr val="EAF6FF"/>
            </a:solidFill>
            <a:ln>
              <a:noFill/>
            </a:ln>
          </p:spPr>
        </p:sp>
        <p:sp>
          <p:nvSpPr>
            <p:cNvPr id="8" name="TextBox 8"/>
            <p:cNvSpPr txBox="1"/>
            <p:nvPr>
              <p:custDataLst>
                <p:tags r:id="rId4"/>
              </p:custDataLst>
            </p:nvPr>
          </p:nvSpPr>
          <p:spPr>
            <a:xfrm>
              <a:off x="1009964" y="2088197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00B0F0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1</a:t>
              </a:r>
              <a:endParaRPr lang="en-US" sz="1350" dirty="0">
                <a:solidFill>
                  <a:srgbClr val="00B0F0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9" name="TextBox 9"/>
            <p:cNvSpPr txBox="1"/>
            <p:nvPr>
              <p:custDataLst>
                <p:tags r:id="rId5"/>
              </p:custDataLst>
            </p:nvPr>
          </p:nvSpPr>
          <p:spPr>
            <a:xfrm>
              <a:off x="1380363" y="2005806"/>
              <a:ext cx="3203372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dirty="0">
                  <a:solidFill>
                    <a:srgbClr val="002060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vLLM 0.23 版本布局适配</a:t>
              </a:r>
              <a:endParaRPr lang="zh-CN" sz="202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10" name="TextBox 10"/>
            <p:cNvSpPr txBox="1"/>
            <p:nvPr>
              <p:custDataLst>
                <p:tags r:id="rId6"/>
              </p:custDataLst>
            </p:nvPr>
          </p:nvSpPr>
          <p:spPr>
            <a:xfrm>
              <a:off x="982980" y="2295525"/>
              <a:ext cx="480504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面向非 MLA 场景新增 `LAYERBLOCK` 路径，适配 GPU KV Cache 新布局</a:t>
              </a:r>
              <a:endParaRPr lang="zh-CN" sz="150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用 stride / pitch 描述布局差异，避免将旧版布局假设写死在实现中</a:t>
              </a:r>
              <a:endParaRPr lang="zh-CN" sz="150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7" name="Group 17"/>
          <p:cNvGrpSpPr/>
          <p:nvPr>
            <p:custDataLst>
              <p:tags r:id="rId7"/>
            </p:custDataLst>
          </p:nvPr>
        </p:nvGrpSpPr>
        <p:grpSpPr>
          <a:xfrm>
            <a:off x="6231890" y="2642870"/>
            <a:ext cx="5219700" cy="1789430"/>
            <a:chOff x="6286500" y="1854787"/>
            <a:chExt cx="5219700" cy="1485900"/>
          </a:xfrm>
        </p:grpSpPr>
        <p:sp>
          <p:nvSpPr>
            <p:cNvPr id="12" name="Rectangle 12"/>
            <p:cNvSpPr/>
            <p:nvPr>
              <p:custDataLst>
                <p:tags r:id="rId8"/>
              </p:custDataLst>
            </p:nvPr>
          </p:nvSpPr>
          <p:spPr>
            <a:xfrm>
              <a:off x="6286500" y="1854787"/>
              <a:ext cx="5219700" cy="1485900"/>
            </a:xfrm>
            <a:prstGeom prst="roundRect">
              <a:avLst>
                <a:gd name="adj" fmla="val 11538"/>
              </a:avLst>
            </a:prstGeom>
            <a:solidFill>
              <a:srgbClr val="F4F8FF"/>
            </a:solidFill>
            <a:ln w="9525">
              <a:solidFill>
                <a:srgbClr val="C9D9F2"/>
              </a:solidFill>
            </a:ln>
          </p:spPr>
        </p:sp>
        <p:sp>
          <p:nvSpPr>
            <p:cNvPr id="13" name="Ellipse 13"/>
            <p:cNvSpPr/>
            <p:nvPr>
              <p:custDataLst>
                <p:tags r:id="rId9"/>
              </p:custDataLst>
            </p:nvPr>
          </p:nvSpPr>
          <p:spPr>
            <a:xfrm>
              <a:off x="6496050" y="2005965"/>
              <a:ext cx="342900" cy="342900"/>
            </a:xfrm>
            <a:prstGeom prst="ellipse">
              <a:avLst/>
            </a:prstGeom>
            <a:solidFill>
              <a:srgbClr val="EAF6FF"/>
            </a:solidFill>
            <a:ln>
              <a:noFill/>
            </a:ln>
          </p:spPr>
        </p:sp>
        <p:sp>
          <p:nvSpPr>
            <p:cNvPr id="14" name="TextBox 14"/>
            <p:cNvSpPr txBox="1"/>
            <p:nvPr>
              <p:custDataLst>
                <p:tags r:id="rId10"/>
              </p:custDataLst>
            </p:nvPr>
          </p:nvSpPr>
          <p:spPr>
            <a:xfrm>
              <a:off x="6610664" y="2088197"/>
              <a:ext cx="113671" cy="17242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00B0F0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2</a:t>
              </a:r>
              <a:endParaRPr lang="en-US" sz="1350" dirty="0">
                <a:solidFill>
                  <a:srgbClr val="00B0F0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15" name="TextBox 15"/>
            <p:cNvSpPr txBox="1"/>
            <p:nvPr>
              <p:custDataLst>
                <p:tags r:id="rId11"/>
              </p:custDataLst>
            </p:nvPr>
          </p:nvSpPr>
          <p:spPr>
            <a:xfrm>
              <a:off x="6981063" y="2005806"/>
              <a:ext cx="3019234" cy="25731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2020" dirty="0">
                  <a:solidFill>
                    <a:srgbClr val="002060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批处理任务生命周期重构</a:t>
              </a:r>
              <a:endParaRPr lang="zh-CN" sz="202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16" name="TextBox 16"/>
            <p:cNvSpPr txBox="1"/>
            <p:nvPr>
              <p:custDataLst>
                <p:tags r:id="rId12"/>
              </p:custDataLst>
            </p:nvPr>
          </p:nvSpPr>
          <p:spPr>
            <a:xfrm>
              <a:off x="6583680" y="2295601"/>
              <a:ext cx="4802505" cy="5789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下层与上层共同跟踪 merged task，修正“子任务视角等待”错配</a:t>
              </a:r>
              <a:endParaRPr lang="zh-CN" sz="150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降低状态丢失、任务泄漏与完成通知错位风险</a:t>
              </a:r>
              <a:endParaRPr lang="zh-CN" sz="150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3" name="Group 23"/>
          <p:cNvGrpSpPr/>
          <p:nvPr>
            <p:custDataLst>
              <p:tags r:id="rId13"/>
            </p:custDataLst>
          </p:nvPr>
        </p:nvGrpSpPr>
        <p:grpSpPr>
          <a:xfrm>
            <a:off x="631190" y="4614545"/>
            <a:ext cx="5219700" cy="1698625"/>
            <a:chOff x="685800" y="3295650"/>
            <a:chExt cx="5219700" cy="1698625"/>
          </a:xfrm>
        </p:grpSpPr>
        <p:sp>
          <p:nvSpPr>
            <p:cNvPr id="18" name="Rectangle 18"/>
            <p:cNvSpPr/>
            <p:nvPr>
              <p:custDataLst>
                <p:tags r:id="rId14"/>
              </p:custDataLst>
            </p:nvPr>
          </p:nvSpPr>
          <p:spPr>
            <a:xfrm>
              <a:off x="685800" y="3295650"/>
              <a:ext cx="5219700" cy="1698625"/>
            </a:xfrm>
            <a:prstGeom prst="roundRect">
              <a:avLst>
                <a:gd name="adj" fmla="val 11538"/>
              </a:avLst>
            </a:prstGeom>
            <a:solidFill>
              <a:srgbClr val="F4F8FF"/>
            </a:solidFill>
            <a:ln w="9525">
              <a:solidFill>
                <a:srgbClr val="C9D9F2"/>
              </a:solidFill>
            </a:ln>
          </p:spPr>
        </p:sp>
        <p:sp>
          <p:nvSpPr>
            <p:cNvPr id="19" name="Ellipse 19"/>
            <p:cNvSpPr/>
            <p:nvPr>
              <p:custDataLst>
                <p:tags r:id="rId15"/>
              </p:custDataLst>
            </p:nvPr>
          </p:nvSpPr>
          <p:spPr>
            <a:xfrm>
              <a:off x="895350" y="3505200"/>
              <a:ext cx="342900" cy="342900"/>
            </a:xfrm>
            <a:prstGeom prst="ellipse">
              <a:avLst/>
            </a:prstGeom>
            <a:solidFill>
              <a:srgbClr val="EAF6FF"/>
            </a:solidFill>
            <a:ln>
              <a:noFill/>
            </a:ln>
          </p:spPr>
        </p:sp>
        <p:sp>
          <p:nvSpPr>
            <p:cNvPr id="20" name="TextBox 20"/>
            <p:cNvSpPr txBox="1"/>
            <p:nvPr>
              <p:custDataLst>
                <p:tags r:id="rId16"/>
              </p:custDataLst>
            </p:nvPr>
          </p:nvSpPr>
          <p:spPr>
            <a:xfrm>
              <a:off x="1009964" y="3597592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00B0F0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3</a:t>
              </a:r>
              <a:endParaRPr lang="en-US" sz="1350" dirty="0">
                <a:solidFill>
                  <a:srgbClr val="00B0F0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1" name="TextBox 21"/>
            <p:cNvSpPr txBox="1"/>
            <p:nvPr>
              <p:custDataLst>
                <p:tags r:id="rId17"/>
              </p:custDataLst>
            </p:nvPr>
          </p:nvSpPr>
          <p:spPr>
            <a:xfrm>
              <a:off x="1380363" y="3515201"/>
              <a:ext cx="2972943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dirty="0">
                  <a:solidFill>
                    <a:srgbClr val="002060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同步 GET 完成清理机制</a:t>
              </a:r>
              <a:endParaRPr lang="zh-CN" sz="202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22" name="TextBox 22"/>
            <p:cNvSpPr txBox="1"/>
            <p:nvPr>
              <p:custDataLst>
                <p:tags r:id="rId18"/>
              </p:custDataLst>
            </p:nvPr>
          </p:nvSpPr>
          <p:spPr>
            <a:xfrm>
              <a:off x="982980" y="3990975"/>
              <a:ext cx="48602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为 `complete=false` 任务增加标志位，区分“已被上层查询”状态</a:t>
              </a:r>
              <a:endParaRPr lang="zh-CN" sz="150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真正完成时可立即清理字典项，而非长期滞留等待超时</a:t>
              </a:r>
              <a:endParaRPr lang="zh-CN" sz="150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9" name="Group 29"/>
          <p:cNvGrpSpPr/>
          <p:nvPr>
            <p:custDataLst>
              <p:tags r:id="rId19"/>
            </p:custDataLst>
          </p:nvPr>
        </p:nvGrpSpPr>
        <p:grpSpPr>
          <a:xfrm>
            <a:off x="6256020" y="4614545"/>
            <a:ext cx="5219700" cy="1703070"/>
            <a:chOff x="6256020" y="4267200"/>
            <a:chExt cx="5219700" cy="1703070"/>
          </a:xfrm>
        </p:grpSpPr>
        <p:sp>
          <p:nvSpPr>
            <p:cNvPr id="24" name="Rectangle 24"/>
            <p:cNvSpPr/>
            <p:nvPr>
              <p:custDataLst>
                <p:tags r:id="rId20"/>
              </p:custDataLst>
            </p:nvPr>
          </p:nvSpPr>
          <p:spPr>
            <a:xfrm>
              <a:off x="6256020" y="4267200"/>
              <a:ext cx="5219700" cy="1703070"/>
            </a:xfrm>
            <a:prstGeom prst="roundRect">
              <a:avLst>
                <a:gd name="adj" fmla="val 11538"/>
              </a:avLst>
            </a:prstGeom>
            <a:solidFill>
              <a:srgbClr val="F4F8FF"/>
            </a:solidFill>
            <a:ln w="9525">
              <a:solidFill>
                <a:srgbClr val="C9D9F2"/>
              </a:solidFill>
            </a:ln>
          </p:spPr>
        </p:sp>
        <p:sp>
          <p:nvSpPr>
            <p:cNvPr id="25" name="Ellipse 25"/>
            <p:cNvSpPr/>
            <p:nvPr>
              <p:custDataLst>
                <p:tags r:id="rId21"/>
              </p:custDataLst>
            </p:nvPr>
          </p:nvSpPr>
          <p:spPr>
            <a:xfrm>
              <a:off x="6496050" y="4478655"/>
              <a:ext cx="342900" cy="342900"/>
            </a:xfrm>
            <a:prstGeom prst="ellipse">
              <a:avLst/>
            </a:prstGeom>
            <a:solidFill>
              <a:srgbClr val="EAF6FF"/>
            </a:solidFill>
            <a:ln>
              <a:noFill/>
            </a:ln>
          </p:spPr>
        </p:sp>
        <p:sp>
          <p:nvSpPr>
            <p:cNvPr id="26" name="TextBox 26"/>
            <p:cNvSpPr txBox="1"/>
            <p:nvPr>
              <p:custDataLst>
                <p:tags r:id="rId22"/>
              </p:custDataLst>
            </p:nvPr>
          </p:nvSpPr>
          <p:spPr>
            <a:xfrm>
              <a:off x="6580184" y="4569142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00B0F0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4</a:t>
              </a:r>
              <a:endParaRPr lang="en-US" sz="1350" dirty="0">
                <a:solidFill>
                  <a:srgbClr val="00B0F0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7" name="TextBox 27"/>
            <p:cNvSpPr txBox="1"/>
            <p:nvPr>
              <p:custDataLst>
                <p:tags r:id="rId23"/>
              </p:custDataLst>
            </p:nvPr>
          </p:nvSpPr>
          <p:spPr>
            <a:xfrm>
              <a:off x="6950583" y="4486751"/>
              <a:ext cx="3496551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dirty="0">
                  <a:solidFill>
                    <a:srgbClr val="002060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CPU / SSD 异构 layout 解耦</a:t>
              </a:r>
              <a:endParaRPr lang="zh-CN" sz="202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28" name="TextBox 28"/>
            <p:cNvSpPr txBox="1"/>
            <p:nvPr>
              <p:custDataLst>
                <p:tags r:id="rId24"/>
              </p:custDataLst>
            </p:nvPr>
          </p:nvSpPr>
          <p:spPr>
            <a:xfrm>
              <a:off x="6553200" y="4962525"/>
              <a:ext cx="48920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SSD 固定 `BLOCKFIRST`，CPU 保持上层访问友好的布局</a:t>
              </a:r>
              <a:endParaRPr lang="zh-CN" sz="150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借助 `preadv/pwritev` 连接离散内存与连续磁盘区域</a:t>
              </a:r>
              <a:endParaRPr lang="zh-CN" sz="150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11208106" y="6404610"/>
            <a:ext cx="1898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6B728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15</a:t>
            </a:r>
            <a:endParaRPr lang="en-US" sz="1200" dirty="0">
              <a:solidFill>
                <a:srgbClr val="6B728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/>
          <p:nvPr/>
        </p:nvSpPr>
        <p:spPr>
          <a:xfrm>
            <a:off x="457200" y="800100"/>
            <a:ext cx="11277600" cy="38100"/>
          </a:xfrm>
          <a:prstGeom prst="rect">
            <a:avLst/>
          </a:prstGeom>
          <a:solidFill>
            <a:srgbClr val="00B0F0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18160" y="209550"/>
            <a:ext cx="4735449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rPr>
              <a:t>创新点与增量贡献（2/2）</a:t>
            </a:r>
            <a:endParaRPr lang="zh-CN" sz="3000" dirty="0">
              <a:solidFill>
                <a:srgbClr val="002060"/>
              </a:solidFill>
              <a:latin typeface="Arial" panose="020B0604020202020204"/>
              <a:ea typeface="黑体" panose="02010609060101010101" charset="-122"/>
              <a:cs typeface="Arial" panose="020B0604020202020204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23875" y="978694"/>
            <a:ext cx="8348662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rgbClr val="44546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本页展示与传输热路径、内存池行为和工程边界增强相关的补充增量贡献。</a:t>
            </a:r>
            <a:endParaRPr lang="zh-CN" sz="1880" dirty="0">
              <a:solidFill>
                <a:srgbClr val="44546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grpSp>
        <p:nvGrpSpPr>
          <p:cNvPr id="11" name="Group 11"/>
          <p:cNvGrpSpPr/>
          <p:nvPr>
            <p:custDataLst>
              <p:tags r:id="rId1"/>
            </p:custDataLst>
          </p:nvPr>
        </p:nvGrpSpPr>
        <p:grpSpPr>
          <a:xfrm>
            <a:off x="685800" y="1676400"/>
            <a:ext cx="5219700" cy="2014220"/>
            <a:chOff x="685800" y="1676400"/>
            <a:chExt cx="5219700" cy="2014220"/>
          </a:xfrm>
        </p:grpSpPr>
        <p:sp>
          <p:nvSpPr>
            <p:cNvPr id="6" name="Rectangle 6"/>
            <p:cNvSpPr/>
            <p:nvPr>
              <p:custDataLst>
                <p:tags r:id="rId2"/>
              </p:custDataLst>
            </p:nvPr>
          </p:nvSpPr>
          <p:spPr>
            <a:xfrm>
              <a:off x="685800" y="1676400"/>
              <a:ext cx="5219700" cy="2014220"/>
            </a:xfrm>
            <a:prstGeom prst="roundRect">
              <a:avLst>
                <a:gd name="adj" fmla="val 10843"/>
              </a:avLst>
            </a:prstGeom>
            <a:solidFill>
              <a:srgbClr val="F4F8FF"/>
            </a:solidFill>
            <a:ln w="9525">
              <a:solidFill>
                <a:srgbClr val="C9D9F2"/>
              </a:solidFill>
            </a:ln>
          </p:spPr>
        </p:sp>
        <p:sp>
          <p:nvSpPr>
            <p:cNvPr id="7" name="Ellipse 7"/>
            <p:cNvSpPr/>
            <p:nvPr>
              <p:custDataLst>
                <p:tags r:id="rId3"/>
              </p:custDataLst>
            </p:nvPr>
          </p:nvSpPr>
          <p:spPr>
            <a:xfrm>
              <a:off x="895350" y="1885950"/>
              <a:ext cx="342900" cy="342900"/>
            </a:xfrm>
            <a:prstGeom prst="ellipse">
              <a:avLst/>
            </a:prstGeom>
            <a:solidFill>
              <a:srgbClr val="EAF6FF"/>
            </a:solidFill>
            <a:ln>
              <a:noFill/>
            </a:ln>
          </p:spPr>
        </p:sp>
        <p:sp>
          <p:nvSpPr>
            <p:cNvPr id="8" name="TextBox 8"/>
            <p:cNvSpPr txBox="1"/>
            <p:nvPr>
              <p:custDataLst>
                <p:tags r:id="rId4"/>
              </p:custDataLst>
            </p:nvPr>
          </p:nvSpPr>
          <p:spPr>
            <a:xfrm>
              <a:off x="1009964" y="1978342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00B0F0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5</a:t>
              </a:r>
              <a:endParaRPr lang="en-US" sz="1350" dirty="0">
                <a:solidFill>
                  <a:srgbClr val="00B0F0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9" name="TextBox 9"/>
            <p:cNvSpPr txBox="1"/>
            <p:nvPr>
              <p:custDataLst>
                <p:tags r:id="rId5"/>
              </p:custDataLst>
            </p:nvPr>
          </p:nvSpPr>
          <p:spPr>
            <a:xfrm>
              <a:off x="1380363" y="1895951"/>
              <a:ext cx="3019234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dirty="0">
                  <a:solidFill>
                    <a:srgbClr val="002060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传输类封装与初始化前移</a:t>
              </a:r>
              <a:endParaRPr lang="zh-CN" sz="202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10" name="TextBox 10"/>
            <p:cNvSpPr txBox="1"/>
            <p:nvPr>
              <p:custDataLst>
                <p:tags r:id="rId6"/>
              </p:custDataLst>
            </p:nvPr>
          </p:nvSpPr>
          <p:spPr>
            <a:xfrm>
              <a:off x="982980" y="2371725"/>
              <a:ext cx="4841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将 SSD↔CPU、CPU↔GPU 传输封装为可复用 C++ 类，在 worker 初始化时完成参数准备</a:t>
              </a:r>
              <a:endParaRPr lang="zh-CN" sz="150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减少每次传输重复计算步长、指针与文件参数的调用开销</a:t>
              </a:r>
              <a:endParaRPr lang="zh-CN" sz="150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7" name="Group 17"/>
          <p:cNvGrpSpPr/>
          <p:nvPr>
            <p:custDataLst>
              <p:tags r:id="rId7"/>
            </p:custDataLst>
          </p:nvPr>
        </p:nvGrpSpPr>
        <p:grpSpPr>
          <a:xfrm>
            <a:off x="6286500" y="1676400"/>
            <a:ext cx="5258435" cy="2002790"/>
            <a:chOff x="6286500" y="1676400"/>
            <a:chExt cx="5258435" cy="2002790"/>
          </a:xfrm>
        </p:grpSpPr>
        <p:sp>
          <p:nvSpPr>
            <p:cNvPr id="12" name="Rectangle 12"/>
            <p:cNvSpPr/>
            <p:nvPr>
              <p:custDataLst>
                <p:tags r:id="rId8"/>
              </p:custDataLst>
            </p:nvPr>
          </p:nvSpPr>
          <p:spPr>
            <a:xfrm>
              <a:off x="6286500" y="1676400"/>
              <a:ext cx="5219700" cy="2002790"/>
            </a:xfrm>
            <a:prstGeom prst="roundRect">
              <a:avLst>
                <a:gd name="adj" fmla="val 10843"/>
              </a:avLst>
            </a:prstGeom>
            <a:solidFill>
              <a:srgbClr val="F4F8FF"/>
            </a:solidFill>
            <a:ln w="9525">
              <a:solidFill>
                <a:srgbClr val="C9D9F2"/>
              </a:solidFill>
            </a:ln>
          </p:spPr>
        </p:sp>
        <p:sp>
          <p:nvSpPr>
            <p:cNvPr id="13" name="Ellipse 13"/>
            <p:cNvSpPr/>
            <p:nvPr>
              <p:custDataLst>
                <p:tags r:id="rId9"/>
              </p:custDataLst>
            </p:nvPr>
          </p:nvSpPr>
          <p:spPr>
            <a:xfrm>
              <a:off x="6496050" y="1885950"/>
              <a:ext cx="342900" cy="342900"/>
            </a:xfrm>
            <a:prstGeom prst="ellipse">
              <a:avLst/>
            </a:prstGeom>
            <a:solidFill>
              <a:srgbClr val="EAF6FF"/>
            </a:solidFill>
            <a:ln>
              <a:noFill/>
            </a:ln>
          </p:spPr>
        </p:sp>
        <p:sp>
          <p:nvSpPr>
            <p:cNvPr id="14" name="TextBox 14"/>
            <p:cNvSpPr txBox="1"/>
            <p:nvPr>
              <p:custDataLst>
                <p:tags r:id="rId10"/>
              </p:custDataLst>
            </p:nvPr>
          </p:nvSpPr>
          <p:spPr>
            <a:xfrm>
              <a:off x="6610664" y="1978342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00B0F0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6</a:t>
              </a:r>
              <a:endParaRPr lang="en-US" sz="1350" dirty="0">
                <a:solidFill>
                  <a:srgbClr val="00B0F0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15" name="TextBox 15"/>
            <p:cNvSpPr txBox="1"/>
            <p:nvPr>
              <p:custDataLst>
                <p:tags r:id="rId11"/>
              </p:custDataLst>
            </p:nvPr>
          </p:nvSpPr>
          <p:spPr>
            <a:xfrm>
              <a:off x="6981063" y="1895951"/>
              <a:ext cx="2814523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dirty="0">
                  <a:solidFill>
                    <a:srgbClr val="002060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底层 2D 传输实现优化</a:t>
              </a:r>
              <a:endParaRPr lang="zh-CN" sz="202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16" name="TextBox 16"/>
            <p:cNvSpPr txBox="1"/>
            <p:nvPr>
              <p:custDataLst>
                <p:tags r:id="rId12"/>
              </p:custDataLst>
            </p:nvPr>
          </p:nvSpPr>
          <p:spPr>
            <a:xfrm>
              <a:off x="6496050" y="2371725"/>
              <a:ext cx="504888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调整 GPU/CPU 底层 2D 传输函数实现方式，改为更适合当前场景的双层循环组织</a:t>
              </a:r>
              <a:endParaRPr lang="zh-CN" sz="150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属于对 FlexKV 原始热路径实现的本地化工程优化</a:t>
              </a:r>
              <a:endParaRPr lang="zh-CN" sz="150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3" name="Group 23"/>
          <p:cNvGrpSpPr/>
          <p:nvPr>
            <p:custDataLst>
              <p:tags r:id="rId13"/>
            </p:custDataLst>
          </p:nvPr>
        </p:nvGrpSpPr>
        <p:grpSpPr>
          <a:xfrm>
            <a:off x="685800" y="4072255"/>
            <a:ext cx="5219700" cy="2000250"/>
            <a:chOff x="685800" y="4072255"/>
            <a:chExt cx="5219700" cy="2000250"/>
          </a:xfrm>
        </p:grpSpPr>
        <p:sp>
          <p:nvSpPr>
            <p:cNvPr id="18" name="Rectangle 18"/>
            <p:cNvSpPr/>
            <p:nvPr>
              <p:custDataLst>
                <p:tags r:id="rId14"/>
              </p:custDataLst>
            </p:nvPr>
          </p:nvSpPr>
          <p:spPr>
            <a:xfrm>
              <a:off x="685800" y="4072255"/>
              <a:ext cx="5219700" cy="2000250"/>
            </a:xfrm>
            <a:prstGeom prst="roundRect">
              <a:avLst>
                <a:gd name="adj" fmla="val 10843"/>
              </a:avLst>
            </a:prstGeom>
            <a:solidFill>
              <a:srgbClr val="F4F8FF"/>
            </a:solidFill>
            <a:ln w="9525">
              <a:solidFill>
                <a:srgbClr val="C9D9F2"/>
              </a:solidFill>
            </a:ln>
          </p:spPr>
        </p:sp>
        <p:sp>
          <p:nvSpPr>
            <p:cNvPr id="19" name="Ellipse 19"/>
            <p:cNvSpPr/>
            <p:nvPr>
              <p:custDataLst>
                <p:tags r:id="rId15"/>
              </p:custDataLst>
            </p:nvPr>
          </p:nvSpPr>
          <p:spPr>
            <a:xfrm>
              <a:off x="895350" y="4241165"/>
              <a:ext cx="342900" cy="342900"/>
            </a:xfrm>
            <a:prstGeom prst="ellipse">
              <a:avLst/>
            </a:prstGeom>
            <a:solidFill>
              <a:srgbClr val="EAF6FF"/>
            </a:solidFill>
            <a:ln>
              <a:noFill/>
            </a:ln>
          </p:spPr>
        </p:sp>
        <p:sp>
          <p:nvSpPr>
            <p:cNvPr id="20" name="TextBox 20"/>
            <p:cNvSpPr txBox="1"/>
            <p:nvPr>
              <p:custDataLst>
                <p:tags r:id="rId16"/>
              </p:custDataLst>
            </p:nvPr>
          </p:nvSpPr>
          <p:spPr>
            <a:xfrm>
              <a:off x="1009964" y="4323397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00B0F0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7</a:t>
              </a:r>
              <a:endParaRPr lang="en-US" sz="1350" dirty="0">
                <a:solidFill>
                  <a:srgbClr val="00B0F0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1" name="TextBox 21"/>
            <p:cNvSpPr txBox="1"/>
            <p:nvPr>
              <p:custDataLst>
                <p:tags r:id="rId17"/>
              </p:custDataLst>
            </p:nvPr>
          </p:nvSpPr>
          <p:spPr>
            <a:xfrm>
              <a:off x="1380363" y="4241006"/>
              <a:ext cx="2828411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dirty="0">
                  <a:solidFill>
                    <a:srgbClr val="002060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mempool 回收感知增强</a:t>
              </a:r>
              <a:endParaRPr lang="zh-CN" sz="202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22" name="TextBox 22"/>
            <p:cNvSpPr txBox="1"/>
            <p:nvPr>
              <p:custDataLst>
                <p:tags r:id="rId18"/>
              </p:custDataLst>
            </p:nvPr>
          </p:nvSpPr>
          <p:spPr>
            <a:xfrm>
              <a:off x="982980" y="4636770"/>
              <a:ext cx="484187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为释放后的块增加即时可感知标志，分配阶段可更早触发重统计</a:t>
              </a:r>
              <a:endParaRPr lang="zh-CN" sz="150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面向“大量申请、较少释放”的推理负载场景做工程性优化探索</a:t>
              </a:r>
              <a:endParaRPr lang="zh-CN" sz="150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9" name="Group 29"/>
          <p:cNvGrpSpPr/>
          <p:nvPr>
            <p:custDataLst>
              <p:tags r:id="rId19"/>
            </p:custDataLst>
          </p:nvPr>
        </p:nvGrpSpPr>
        <p:grpSpPr>
          <a:xfrm>
            <a:off x="6286500" y="4021455"/>
            <a:ext cx="5219700" cy="2032000"/>
            <a:chOff x="6286500" y="4021455"/>
            <a:chExt cx="5219700" cy="2032000"/>
          </a:xfrm>
        </p:grpSpPr>
        <p:sp>
          <p:nvSpPr>
            <p:cNvPr id="24" name="Rectangle 24"/>
            <p:cNvSpPr/>
            <p:nvPr>
              <p:custDataLst>
                <p:tags r:id="rId20"/>
              </p:custDataLst>
            </p:nvPr>
          </p:nvSpPr>
          <p:spPr>
            <a:xfrm>
              <a:off x="6286500" y="4021455"/>
              <a:ext cx="5219700" cy="2032000"/>
            </a:xfrm>
            <a:prstGeom prst="roundRect">
              <a:avLst>
                <a:gd name="adj" fmla="val 10843"/>
              </a:avLst>
            </a:prstGeom>
            <a:solidFill>
              <a:srgbClr val="F4F8FF"/>
            </a:solidFill>
            <a:ln w="9525">
              <a:solidFill>
                <a:srgbClr val="C9D9F2"/>
              </a:solidFill>
            </a:ln>
          </p:spPr>
        </p:sp>
        <p:sp>
          <p:nvSpPr>
            <p:cNvPr id="25" name="Ellipse 25"/>
            <p:cNvSpPr/>
            <p:nvPr>
              <p:custDataLst>
                <p:tags r:id="rId21"/>
              </p:custDataLst>
            </p:nvPr>
          </p:nvSpPr>
          <p:spPr>
            <a:xfrm>
              <a:off x="6496050" y="4241165"/>
              <a:ext cx="342900" cy="342900"/>
            </a:xfrm>
            <a:prstGeom prst="ellipse">
              <a:avLst/>
            </a:prstGeom>
            <a:solidFill>
              <a:srgbClr val="EAF6FF"/>
            </a:solidFill>
            <a:ln>
              <a:noFill/>
            </a:ln>
          </p:spPr>
        </p:sp>
        <p:sp>
          <p:nvSpPr>
            <p:cNvPr id="26" name="TextBox 26"/>
            <p:cNvSpPr txBox="1"/>
            <p:nvPr>
              <p:custDataLst>
                <p:tags r:id="rId22"/>
              </p:custDataLst>
            </p:nvPr>
          </p:nvSpPr>
          <p:spPr>
            <a:xfrm>
              <a:off x="6610664" y="4323397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00B0F0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8</a:t>
              </a:r>
              <a:endParaRPr lang="en-US" sz="1350" dirty="0">
                <a:solidFill>
                  <a:srgbClr val="00B0F0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7" name="TextBox 27"/>
            <p:cNvSpPr txBox="1"/>
            <p:nvPr>
              <p:custDataLst>
                <p:tags r:id="rId23"/>
              </p:custDataLst>
            </p:nvPr>
          </p:nvSpPr>
          <p:spPr>
            <a:xfrm>
              <a:off x="6981063" y="4241006"/>
              <a:ext cx="1282700" cy="309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dirty="0">
                  <a:solidFill>
                    <a:srgbClr val="002060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非整体照搬</a:t>
              </a:r>
              <a:endParaRPr lang="zh-CN" sz="202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28" name="TextBox 28"/>
            <p:cNvSpPr txBox="1"/>
            <p:nvPr>
              <p:custDataLst>
                <p:tags r:id="rId24"/>
              </p:custDataLst>
            </p:nvPr>
          </p:nvSpPr>
          <p:spPr>
            <a:xfrm>
              <a:off x="6496050" y="4636770"/>
              <a:ext cx="501015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当前实现聚焦单机单卡、vLLM V1 connector 与 GPU/CPU/SSD 三层缓存管理</a:t>
              </a:r>
              <a:endParaRPr lang="zh-CN" sz="150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  <a:p>
              <a:pPr algn="l">
                <a:lnSpc>
                  <a:spcPts val="2250"/>
                </a:lnSpc>
              </a:pPr>
              <a:endParaRPr lang="zh-CN" sz="150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11208106" y="6404610"/>
            <a:ext cx="1898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6B728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16</a:t>
            </a:r>
            <a:endParaRPr lang="en-US" sz="1200" dirty="0">
              <a:solidFill>
                <a:srgbClr val="6B728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/>
          <p:nvPr/>
        </p:nvSpPr>
        <p:spPr>
          <a:xfrm>
            <a:off x="457200" y="800100"/>
            <a:ext cx="11277600" cy="38100"/>
          </a:xfrm>
          <a:prstGeom prst="rect">
            <a:avLst/>
          </a:prstGeom>
          <a:solidFill>
            <a:srgbClr val="00B0F0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18160" y="209550"/>
            <a:ext cx="4361688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rPr>
              <a:t>AI 工具使用说明与披露</a:t>
            </a:r>
            <a:endParaRPr lang="zh-CN" sz="3000" dirty="0">
              <a:solidFill>
                <a:srgbClr val="002060"/>
              </a:solidFill>
              <a:latin typeface="Arial" panose="020B0604020202020204"/>
              <a:ea typeface="黑体" panose="02010609060101010101" charset="-122"/>
              <a:cs typeface="Arial" panose="020B0604020202020204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23875" y="978694"/>
            <a:ext cx="5596890" cy="288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chemeClr val="tx1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本队将 AI 定位为辅助工具，而非替代成员实现的主体</a:t>
            </a:r>
            <a:endParaRPr lang="zh-CN" sz="1880" dirty="0">
              <a:solidFill>
                <a:schemeClr val="tx1"/>
              </a:solidFill>
              <a:latin typeface="Arial" panose="020B0604020202020204"/>
              <a:ea typeface="微软雅黑" panose="020B0503020204020204" charset="-122"/>
              <a:cs typeface="Arial" panose="020B0604020202020204"/>
              <a:sym typeface="+mn-ea"/>
            </a:endParaRPr>
          </a:p>
        </p:txBody>
      </p:sp>
      <p:grpSp>
        <p:nvGrpSpPr>
          <p:cNvPr id="11" name="Group 11"/>
          <p:cNvGrpSpPr/>
          <p:nvPr>
            <p:custDataLst>
              <p:tags r:id="rId1"/>
            </p:custDataLst>
          </p:nvPr>
        </p:nvGrpSpPr>
        <p:grpSpPr>
          <a:xfrm>
            <a:off x="685800" y="1676400"/>
            <a:ext cx="5219700" cy="3312680"/>
            <a:chOff x="685800" y="1676400"/>
            <a:chExt cx="5219700" cy="2714239"/>
          </a:xfrm>
        </p:grpSpPr>
        <p:sp>
          <p:nvSpPr>
            <p:cNvPr id="6" name="Rectangle 6"/>
            <p:cNvSpPr/>
            <p:nvPr>
              <p:custDataLst>
                <p:tags r:id="rId2"/>
              </p:custDataLst>
            </p:nvPr>
          </p:nvSpPr>
          <p:spPr>
            <a:xfrm>
              <a:off x="685800" y="1676400"/>
              <a:ext cx="5219700" cy="1581150"/>
            </a:xfrm>
            <a:prstGeom prst="roundRect">
              <a:avLst>
                <a:gd name="adj" fmla="val 10843"/>
              </a:avLst>
            </a:prstGeom>
            <a:solidFill>
              <a:srgbClr val="F4F8FF"/>
            </a:solidFill>
            <a:ln w="9525">
              <a:solidFill>
                <a:srgbClr val="C9D9F2"/>
              </a:solidFill>
            </a:ln>
          </p:spPr>
        </p:sp>
        <p:sp>
          <p:nvSpPr>
            <p:cNvPr id="7" name="Ellipse 7"/>
            <p:cNvSpPr/>
            <p:nvPr>
              <p:custDataLst>
                <p:tags r:id="rId3"/>
              </p:custDataLst>
            </p:nvPr>
          </p:nvSpPr>
          <p:spPr>
            <a:xfrm>
              <a:off x="895350" y="1885950"/>
              <a:ext cx="342900" cy="342900"/>
            </a:xfrm>
            <a:prstGeom prst="ellipse">
              <a:avLst/>
            </a:prstGeom>
            <a:solidFill>
              <a:srgbClr val="EAF6FF"/>
            </a:solidFill>
            <a:ln>
              <a:noFill/>
            </a:ln>
          </p:spPr>
        </p:sp>
        <p:sp>
          <p:nvSpPr>
            <p:cNvPr id="8" name="TextBox 8"/>
            <p:cNvSpPr txBox="1"/>
            <p:nvPr>
              <p:custDataLst>
                <p:tags r:id="rId4"/>
              </p:custDataLst>
            </p:nvPr>
          </p:nvSpPr>
          <p:spPr>
            <a:xfrm>
              <a:off x="1009964" y="1949723"/>
              <a:ext cx="113671" cy="17013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00B0F0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1</a:t>
              </a:r>
              <a:endParaRPr lang="en-US" sz="1350" dirty="0">
                <a:solidFill>
                  <a:srgbClr val="00B0F0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9" name="TextBox 9"/>
            <p:cNvSpPr txBox="1"/>
            <p:nvPr>
              <p:custDataLst>
                <p:tags r:id="rId5"/>
              </p:custDataLst>
            </p:nvPr>
          </p:nvSpPr>
          <p:spPr>
            <a:xfrm>
              <a:off x="1380363" y="1895951"/>
              <a:ext cx="1656207" cy="25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2020" dirty="0">
                  <a:solidFill>
                    <a:srgbClr val="002060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当前使用场景</a:t>
              </a:r>
              <a:endParaRPr lang="zh-CN" sz="202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10" name="TextBox 10"/>
            <p:cNvSpPr txBox="1"/>
            <p:nvPr>
              <p:custDataLst>
                <p:tags r:id="rId6"/>
              </p:custDataLst>
            </p:nvPr>
          </p:nvSpPr>
          <p:spPr>
            <a:xfrm>
              <a:off x="1009650" y="2228944"/>
              <a:ext cx="4718050" cy="89853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在写项目测试脚本时，我队使用了 AI 助手辅助，告诉</a:t>
              </a:r>
              <a:r>
                <a:rPr lang="en-US" altLang="zh-CN" sz="150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ai</a:t>
              </a:r>
              <a:r>
                <a:rPr lang="zh-CN" altLang="en-US" sz="150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思路后，让</a:t>
              </a:r>
              <a:r>
                <a:rPr lang="en-US" altLang="zh-CN" sz="150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ai</a:t>
              </a:r>
              <a:r>
                <a:rPr lang="zh-CN" altLang="en-US" sz="150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编写，人工复核</a:t>
              </a:r>
              <a:endParaRPr lang="zh-CN" altLang="en-US" sz="150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  <a:sym typeface="+mn-ea"/>
                </a:rPr>
                <a:t>• </a:t>
              </a:r>
              <a:r>
                <a:rPr lang="zh-CN" altLang="en-US" sz="150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使用模型：</a:t>
              </a:r>
              <a:r>
                <a:rPr lang="en-US" altLang="zh-CN" sz="150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claude</a:t>
              </a:r>
              <a:endParaRPr lang="zh-CN" sz="150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  <a:p>
              <a:pPr algn="l">
                <a:lnSpc>
                  <a:spcPts val="2250"/>
                </a:lnSpc>
              </a:pPr>
              <a:endParaRPr lang="zh-CN" sz="150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  <a:p>
              <a:pPr algn="l">
                <a:lnSpc>
                  <a:spcPts val="2250"/>
                </a:lnSpc>
              </a:pPr>
              <a:endParaRPr lang="en-US" altLang="zh-CN" sz="150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5" name="Ellipse 7"/>
            <p:cNvSpPr/>
            <p:nvPr>
              <p:custDataLst>
                <p:tags r:id="rId7"/>
              </p:custDataLst>
            </p:nvPr>
          </p:nvSpPr>
          <p:spPr>
            <a:xfrm>
              <a:off x="5127625" y="4047739"/>
              <a:ext cx="342900" cy="342900"/>
            </a:xfrm>
            <a:prstGeom prst="ellipse">
              <a:avLst/>
            </a:prstGeom>
            <a:solidFill>
              <a:srgbClr val="EAF6FF"/>
            </a:solidFill>
            <a:ln>
              <a:noFill/>
            </a:ln>
          </p:spPr>
        </p:sp>
      </p:grpSp>
      <p:grpSp>
        <p:nvGrpSpPr>
          <p:cNvPr id="17" name="Group 17"/>
          <p:cNvGrpSpPr/>
          <p:nvPr>
            <p:custDataLst>
              <p:tags r:id="rId8"/>
            </p:custDataLst>
          </p:nvPr>
        </p:nvGrpSpPr>
        <p:grpSpPr>
          <a:xfrm>
            <a:off x="6341110" y="1676400"/>
            <a:ext cx="5219700" cy="1929765"/>
            <a:chOff x="6341110" y="1676400"/>
            <a:chExt cx="5219700" cy="1929765"/>
          </a:xfrm>
        </p:grpSpPr>
        <p:sp>
          <p:nvSpPr>
            <p:cNvPr id="12" name="Rectangle 12"/>
            <p:cNvSpPr/>
            <p:nvPr>
              <p:custDataLst>
                <p:tags r:id="rId9"/>
              </p:custDataLst>
            </p:nvPr>
          </p:nvSpPr>
          <p:spPr>
            <a:xfrm>
              <a:off x="6341110" y="1676400"/>
              <a:ext cx="5219700" cy="1929765"/>
            </a:xfrm>
            <a:prstGeom prst="roundRect">
              <a:avLst>
                <a:gd name="adj" fmla="val 10843"/>
              </a:avLst>
            </a:prstGeom>
            <a:solidFill>
              <a:srgbClr val="F4F8FF"/>
            </a:solidFill>
            <a:ln w="9525">
              <a:solidFill>
                <a:srgbClr val="C9D9F2"/>
              </a:solidFill>
            </a:ln>
          </p:spPr>
        </p:sp>
        <p:sp>
          <p:nvSpPr>
            <p:cNvPr id="13" name="Ellipse 13"/>
            <p:cNvSpPr/>
            <p:nvPr>
              <p:custDataLst>
                <p:tags r:id="rId10"/>
              </p:custDataLst>
            </p:nvPr>
          </p:nvSpPr>
          <p:spPr>
            <a:xfrm>
              <a:off x="6496050" y="1885950"/>
              <a:ext cx="342900" cy="342900"/>
            </a:xfrm>
            <a:prstGeom prst="ellipse">
              <a:avLst/>
            </a:prstGeom>
            <a:solidFill>
              <a:srgbClr val="EAF6FF"/>
            </a:solidFill>
            <a:ln>
              <a:noFill/>
            </a:ln>
          </p:spPr>
        </p:sp>
        <p:sp>
          <p:nvSpPr>
            <p:cNvPr id="14" name="TextBox 14"/>
            <p:cNvSpPr txBox="1"/>
            <p:nvPr>
              <p:custDataLst>
                <p:tags r:id="rId11"/>
              </p:custDataLst>
            </p:nvPr>
          </p:nvSpPr>
          <p:spPr>
            <a:xfrm>
              <a:off x="6610664" y="1978342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00B0F0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2</a:t>
              </a:r>
              <a:endParaRPr lang="en-US" sz="1350" dirty="0">
                <a:solidFill>
                  <a:srgbClr val="00B0F0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15" name="TextBox 15"/>
            <p:cNvSpPr txBox="1"/>
            <p:nvPr>
              <p:custDataLst>
                <p:tags r:id="rId12"/>
              </p:custDataLst>
            </p:nvPr>
          </p:nvSpPr>
          <p:spPr>
            <a:xfrm>
              <a:off x="6981063" y="1895951"/>
              <a:ext cx="1656207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dirty="0">
                  <a:solidFill>
                    <a:srgbClr val="002060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人工复核原则</a:t>
              </a:r>
              <a:endParaRPr lang="zh-CN" sz="202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16" name="TextBox 16"/>
            <p:cNvSpPr txBox="1"/>
            <p:nvPr>
              <p:custDataLst>
                <p:tags r:id="rId13"/>
              </p:custDataLst>
            </p:nvPr>
          </p:nvSpPr>
          <p:spPr>
            <a:xfrm>
              <a:off x="6583680" y="2371725"/>
              <a:ext cx="48634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AI 输出内容由本队成员结合代码实现和实验结果进行人工核对</a:t>
              </a:r>
              <a:endParaRPr lang="zh-CN" sz="150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所有技术表述、测试结论和答辩内容均以人工复核结果为准</a:t>
              </a:r>
              <a:endParaRPr lang="zh-CN" sz="150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34" name="Ellipse 7"/>
          <p:cNvSpPr/>
          <p:nvPr>
            <p:custDataLst>
              <p:tags r:id="rId14"/>
            </p:custDataLst>
          </p:nvPr>
        </p:nvSpPr>
        <p:spPr>
          <a:xfrm>
            <a:off x="5127625" y="4528667"/>
            <a:ext cx="342900" cy="418503"/>
          </a:xfrm>
          <a:prstGeom prst="ellipse">
            <a:avLst/>
          </a:prstGeom>
          <a:solidFill>
            <a:srgbClr val="EAF6FF"/>
          </a:solidFill>
          <a:ln>
            <a:noFill/>
          </a:ln>
        </p:spPr>
      </p:sp>
      <p:grpSp>
        <p:nvGrpSpPr>
          <p:cNvPr id="29" name="Group 29"/>
          <p:cNvGrpSpPr/>
          <p:nvPr>
            <p:custDataLst>
              <p:tags r:id="rId15"/>
            </p:custDataLst>
          </p:nvPr>
        </p:nvGrpSpPr>
        <p:grpSpPr>
          <a:xfrm>
            <a:off x="2315845" y="4366895"/>
            <a:ext cx="7458075" cy="1581150"/>
            <a:chOff x="2603500" y="4366895"/>
            <a:chExt cx="6681470" cy="1581150"/>
          </a:xfrm>
        </p:grpSpPr>
        <p:sp>
          <p:nvSpPr>
            <p:cNvPr id="24" name="Rectangle 24"/>
            <p:cNvSpPr/>
            <p:nvPr>
              <p:custDataLst>
                <p:tags r:id="rId16"/>
              </p:custDataLst>
            </p:nvPr>
          </p:nvSpPr>
          <p:spPr>
            <a:xfrm>
              <a:off x="2603500" y="4366895"/>
              <a:ext cx="6681470" cy="1581150"/>
            </a:xfrm>
            <a:prstGeom prst="roundRect">
              <a:avLst>
                <a:gd name="adj" fmla="val 10843"/>
              </a:avLst>
            </a:prstGeom>
            <a:solidFill>
              <a:srgbClr val="F4F8FF"/>
            </a:solidFill>
            <a:ln w="9525">
              <a:solidFill>
                <a:srgbClr val="C9D9F2"/>
              </a:solidFill>
            </a:ln>
          </p:spPr>
        </p:sp>
        <p:sp>
          <p:nvSpPr>
            <p:cNvPr id="27" name="TextBox 27"/>
            <p:cNvSpPr txBox="1"/>
            <p:nvPr>
              <p:custDataLst>
                <p:tags r:id="rId17"/>
              </p:custDataLst>
            </p:nvPr>
          </p:nvSpPr>
          <p:spPr>
            <a:xfrm>
              <a:off x="5612638" y="4612481"/>
              <a:ext cx="1026160" cy="309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2020" dirty="0">
                  <a:solidFill>
                    <a:srgbClr val="002060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记录留存</a:t>
              </a:r>
              <a:endParaRPr lang="zh-CN" sz="202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28" name="TextBox 28"/>
            <p:cNvSpPr txBox="1"/>
            <p:nvPr>
              <p:custDataLst>
                <p:tags r:id="rId18"/>
              </p:custDataLst>
            </p:nvPr>
          </p:nvSpPr>
          <p:spPr>
            <a:xfrm>
              <a:off x="2964180" y="5062220"/>
              <a:ext cx="62636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当前已额外整理 AI 使用文件，见 `</a:t>
              </a:r>
              <a:r>
                <a:rPr lang="en-US" altLang="zh-CN" sz="150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miniflex/docs/</a:t>
              </a:r>
              <a:r>
                <a:rPr lang="zh-CN" sz="150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test_overview.md`</a:t>
              </a:r>
              <a:endParaRPr lang="zh-CN" sz="150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  <a:p>
              <a:pPr algn="l">
                <a:lnSpc>
                  <a:spcPts val="2250"/>
                </a:lnSpc>
              </a:pPr>
              <a:endParaRPr lang="zh-CN" sz="150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6" name="TextBox 26"/>
            <p:cNvSpPr txBox="1"/>
            <p:nvPr>
              <p:custDataLst>
                <p:tags r:id="rId19"/>
              </p:custDataLst>
            </p:nvPr>
          </p:nvSpPr>
          <p:spPr>
            <a:xfrm>
              <a:off x="5242239" y="4694872"/>
              <a:ext cx="113671" cy="20764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00B0F0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4</a:t>
              </a:r>
              <a:endParaRPr lang="en-US" sz="1350" dirty="0">
                <a:solidFill>
                  <a:srgbClr val="00B0F0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11208106" y="6404610"/>
            <a:ext cx="1898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6B728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17</a:t>
            </a:r>
            <a:endParaRPr lang="en-US" sz="1200" dirty="0">
              <a:solidFill>
                <a:srgbClr val="6B728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6" name="Ellipse 7"/>
          <p:cNvSpPr/>
          <p:nvPr>
            <p:custDataLst>
              <p:tags r:id="rId20"/>
            </p:custDataLst>
          </p:nvPr>
        </p:nvSpPr>
        <p:spPr>
          <a:xfrm>
            <a:off x="5127625" y="4570577"/>
            <a:ext cx="342900" cy="418503"/>
          </a:xfrm>
          <a:prstGeom prst="ellipse">
            <a:avLst/>
          </a:prstGeom>
          <a:solidFill>
            <a:srgbClr val="EAF6FF"/>
          </a:solidFill>
          <a:ln>
            <a:noFill/>
          </a:ln>
        </p:spPr>
      </p:sp>
      <p:sp>
        <p:nvSpPr>
          <p:cNvPr id="37" name="TextBox 8"/>
          <p:cNvSpPr txBox="1"/>
          <p:nvPr>
            <p:custDataLst>
              <p:tags r:id="rId21"/>
            </p:custDataLst>
          </p:nvPr>
        </p:nvSpPr>
        <p:spPr>
          <a:xfrm>
            <a:off x="5242239" y="4694770"/>
            <a:ext cx="113671" cy="20764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ctr"/>
            <a:r>
              <a:rPr lang="en-US" sz="1350" dirty="0">
                <a:solidFill>
                  <a:srgbClr val="00B0F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</a:t>
            </a:r>
            <a:endParaRPr lang="en-US" sz="1350" dirty="0">
              <a:solidFill>
                <a:srgbClr val="00B0F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762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457200" y="800100"/>
            <a:ext cx="11277600" cy="38100"/>
          </a:xfrm>
          <a:prstGeom prst="rect">
            <a:avLst/>
          </a:prstGeom>
          <a:solidFill>
            <a:srgbClr val="00B0F0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18160" y="209550"/>
            <a:ext cx="164592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rPr>
              <a:t>成员分工</a:t>
            </a:r>
            <a:endParaRPr lang="zh-CN" sz="3000" dirty="0">
              <a:solidFill>
                <a:srgbClr val="002060"/>
              </a:solidFill>
              <a:latin typeface="Arial" panose="020B0604020202020204"/>
              <a:ea typeface="黑体" panose="02010609060101010101" charset="-122"/>
              <a:cs typeface="Arial" panose="020B0604020202020204"/>
            </a:endParaRPr>
          </a:p>
        </p:txBody>
      </p:sp>
      <p:grpSp>
        <p:nvGrpSpPr>
          <p:cNvPr id="12" name="Group 12"/>
          <p:cNvGrpSpPr/>
          <p:nvPr>
            <p:custDataLst>
              <p:tags r:id="rId1"/>
            </p:custDataLst>
          </p:nvPr>
        </p:nvGrpSpPr>
        <p:grpSpPr>
          <a:xfrm>
            <a:off x="838200" y="1503045"/>
            <a:ext cx="3276600" cy="4636770"/>
            <a:chOff x="838200" y="1962150"/>
            <a:chExt cx="3276600" cy="4636770"/>
          </a:xfrm>
        </p:grpSpPr>
        <p:sp>
          <p:nvSpPr>
            <p:cNvPr id="6" name="Rectangle 6"/>
            <p:cNvSpPr/>
            <p:nvPr>
              <p:custDataLst>
                <p:tags r:id="rId2"/>
              </p:custDataLst>
            </p:nvPr>
          </p:nvSpPr>
          <p:spPr>
            <a:xfrm>
              <a:off x="838200" y="1962150"/>
              <a:ext cx="3276600" cy="4636770"/>
            </a:xfrm>
            <a:prstGeom prst="roundRect">
              <a:avLst>
                <a:gd name="adj" fmla="val 5814"/>
              </a:avLst>
            </a:prstGeom>
            <a:solidFill>
              <a:srgbClr val="F4F8FF"/>
            </a:solidFill>
            <a:ln w="9525">
              <a:solidFill>
                <a:srgbClr val="C9D9F2"/>
              </a:solidFill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7" name="Ellipse 7"/>
            <p:cNvSpPr/>
            <p:nvPr>
              <p:custDataLst>
                <p:tags r:id="rId3"/>
              </p:custDataLst>
            </p:nvPr>
          </p:nvSpPr>
          <p:spPr>
            <a:xfrm>
              <a:off x="2076450" y="2190750"/>
              <a:ext cx="800100" cy="800100"/>
            </a:xfrm>
            <a:prstGeom prst="ellipse">
              <a:avLst/>
            </a:prstGeom>
            <a:solidFill>
              <a:srgbClr val="002060"/>
            </a:solidFill>
            <a:ln>
              <a:noFill/>
            </a:ln>
          </p:spPr>
        </p:sp>
        <p:sp>
          <p:nvSpPr>
            <p:cNvPr id="8" name="TextBox 8"/>
            <p:cNvSpPr txBox="1"/>
            <p:nvPr>
              <p:custDataLst>
                <p:tags r:id="rId4"/>
              </p:custDataLst>
            </p:nvPr>
          </p:nvSpPr>
          <p:spPr>
            <a:xfrm>
              <a:off x="2383688" y="2478405"/>
              <a:ext cx="18562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A</a:t>
              </a:r>
              <a:endParaRPr lang="en-US" sz="2100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9" name="TextBox 9"/>
            <p:cNvSpPr txBox="1"/>
            <p:nvPr>
              <p:custDataLst>
                <p:tags r:id="rId5"/>
              </p:custDataLst>
            </p:nvPr>
          </p:nvSpPr>
          <p:spPr>
            <a:xfrm>
              <a:off x="2010728" y="3109912"/>
              <a:ext cx="93154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dirty="0">
                  <a:solidFill>
                    <a:srgbClr val="002060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井光成</a:t>
              </a:r>
              <a:endParaRPr lang="zh-CN" sz="225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10" name="TextBox 10"/>
            <p:cNvSpPr txBox="1"/>
            <p:nvPr>
              <p:custDataLst>
                <p:tags r:id="rId6"/>
              </p:custDataLst>
            </p:nvPr>
          </p:nvSpPr>
          <p:spPr>
            <a:xfrm>
              <a:off x="1376934" y="3634740"/>
              <a:ext cx="2199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44546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方案设计和代码实现</a:t>
              </a:r>
              <a:endParaRPr lang="zh-CN" sz="1800" dirty="0">
                <a:solidFill>
                  <a:srgbClr val="44546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1" name="TextBox 11"/>
            <p:cNvSpPr txBox="1"/>
            <p:nvPr>
              <p:custDataLst>
                <p:tags r:id="rId7"/>
              </p:custDataLst>
            </p:nvPr>
          </p:nvSpPr>
          <p:spPr>
            <a:xfrm>
              <a:off x="1264285" y="4043045"/>
              <a:ext cx="2849880" cy="9728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550"/>
                </a:lnSpc>
              </a:pPr>
              <a:r>
                <a:rPr lang="en-US" alt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</a:t>
              </a:r>
              <a:r>
                <a:rPr lang="zh-CN" altLang="en-US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总体技术路线设计</a:t>
              </a:r>
              <a:r>
                <a:rPr lang="en-US" alt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  </a:t>
              </a:r>
              <a:endParaRPr lang="en-US" alt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  <a:p>
              <a:pPr algn="l">
                <a:lnSpc>
                  <a:spcPts val="2550"/>
                </a:lnSpc>
              </a:pPr>
              <a:r>
                <a:rPr lang="en-US" alt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MiniFle</a:t>
              </a:r>
              <a:r>
                <a:rPr lang="zh-CN" altLang="en-US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核心模块实现</a:t>
              </a:r>
              <a:r>
                <a:rPr lang="en-US" alt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 </a:t>
              </a:r>
              <a:endParaRPr lang="en-US" alt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  <a:p>
              <a:pPr algn="l">
                <a:lnSpc>
                  <a:spcPts val="2550"/>
                </a:lnSpc>
              </a:pPr>
              <a:r>
                <a:rPr lang="en-US" alt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vLLM connector </a:t>
              </a:r>
              <a:r>
                <a:rPr lang="zh-CN" altLang="en-US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接入与</a:t>
              </a:r>
              <a:endParaRPr lang="zh-CN" altLang="en-US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  <a:p>
              <a:pPr algn="l">
                <a:lnSpc>
                  <a:spcPts val="2550"/>
                </a:lnSpc>
              </a:pPr>
              <a:r>
                <a:rPr lang="en-US" alt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  </a:t>
              </a:r>
              <a:r>
                <a:rPr lang="zh-CN" altLang="en-US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兼容适配</a:t>
              </a:r>
              <a:r>
                <a:rPr lang="en-US" alt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  </a:t>
              </a:r>
              <a:endParaRPr lang="en-US" alt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  <a:p>
              <a:pPr algn="l">
                <a:lnSpc>
                  <a:spcPts val="2550"/>
                </a:lnSpc>
              </a:pPr>
              <a:r>
                <a:rPr lang="en-US" alt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</a:t>
              </a:r>
              <a:r>
                <a:rPr lang="zh-CN" altLang="en-US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缓存、存储、传输等关键链路联调</a:t>
              </a:r>
              <a:r>
                <a:rPr lang="en-US" alt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  </a:t>
              </a:r>
              <a:endParaRPr lang="en-US" alt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  <a:p>
              <a:pPr algn="l">
                <a:lnSpc>
                  <a:spcPts val="2550"/>
                </a:lnSpc>
              </a:pPr>
              <a:r>
                <a:rPr lang="en-US" alt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</a:t>
              </a:r>
              <a:r>
                <a:rPr lang="zh-CN" altLang="en-US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系统整体架构推进</a:t>
              </a:r>
              <a:r>
                <a:rPr lang="en-US" alt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 </a:t>
              </a:r>
              <a:endParaRPr lang="en-US" alt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9" name="Group 19"/>
          <p:cNvGrpSpPr/>
          <p:nvPr>
            <p:custDataLst>
              <p:tags r:id="rId8"/>
            </p:custDataLst>
          </p:nvPr>
        </p:nvGrpSpPr>
        <p:grpSpPr>
          <a:xfrm>
            <a:off x="4457700" y="1503045"/>
            <a:ext cx="3276600" cy="4636135"/>
            <a:chOff x="4457700" y="1962150"/>
            <a:chExt cx="3276600" cy="4636135"/>
          </a:xfrm>
        </p:grpSpPr>
        <p:sp>
          <p:nvSpPr>
            <p:cNvPr id="13" name="Rectangle 13"/>
            <p:cNvSpPr/>
            <p:nvPr>
              <p:custDataLst>
                <p:tags r:id="rId9"/>
              </p:custDataLst>
            </p:nvPr>
          </p:nvSpPr>
          <p:spPr>
            <a:xfrm>
              <a:off x="4457700" y="1962150"/>
              <a:ext cx="3276600" cy="4636135"/>
            </a:xfrm>
            <a:prstGeom prst="roundRect">
              <a:avLst>
                <a:gd name="adj" fmla="val 5814"/>
              </a:avLst>
            </a:prstGeom>
            <a:solidFill>
              <a:srgbClr val="F4F8FF"/>
            </a:solidFill>
            <a:ln w="9525">
              <a:solidFill>
                <a:srgbClr val="C9D9F2"/>
              </a:solidFill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4" name="Ellipse 14"/>
            <p:cNvSpPr/>
            <p:nvPr>
              <p:custDataLst>
                <p:tags r:id="rId10"/>
              </p:custDataLst>
            </p:nvPr>
          </p:nvSpPr>
          <p:spPr>
            <a:xfrm>
              <a:off x="5695950" y="2190750"/>
              <a:ext cx="800100" cy="800100"/>
            </a:xfrm>
            <a:prstGeom prst="ellipse">
              <a:avLst/>
            </a:prstGeom>
            <a:solidFill>
              <a:srgbClr val="002060"/>
            </a:solidFill>
            <a:ln>
              <a:noFill/>
            </a:ln>
          </p:spPr>
        </p:sp>
        <p:sp>
          <p:nvSpPr>
            <p:cNvPr id="15" name="TextBox 15"/>
            <p:cNvSpPr txBox="1"/>
            <p:nvPr>
              <p:custDataLst>
                <p:tags r:id="rId11"/>
              </p:custDataLst>
            </p:nvPr>
          </p:nvSpPr>
          <p:spPr>
            <a:xfrm>
              <a:off x="6003188" y="2478405"/>
              <a:ext cx="18562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B</a:t>
              </a:r>
              <a:endParaRPr lang="en-US" sz="2100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16" name="TextBox 16"/>
            <p:cNvSpPr txBox="1"/>
            <p:nvPr>
              <p:custDataLst>
                <p:tags r:id="rId12"/>
              </p:custDataLst>
            </p:nvPr>
          </p:nvSpPr>
          <p:spPr>
            <a:xfrm>
              <a:off x="5630227" y="3109912"/>
              <a:ext cx="93154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dirty="0">
                  <a:solidFill>
                    <a:srgbClr val="002060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祁馨叶</a:t>
              </a:r>
              <a:endParaRPr lang="zh-CN" sz="225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17" name="TextBox 17"/>
            <p:cNvSpPr txBox="1"/>
            <p:nvPr>
              <p:custDataLst>
                <p:tags r:id="rId13"/>
              </p:custDataLst>
            </p:nvPr>
          </p:nvSpPr>
          <p:spPr>
            <a:xfrm>
              <a:off x="5117592" y="363474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44546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文档和资料的搜集</a:t>
              </a:r>
              <a:endParaRPr lang="zh-CN" sz="1800" dirty="0">
                <a:solidFill>
                  <a:srgbClr val="44546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8" name="TextBox 18"/>
            <p:cNvSpPr txBox="1"/>
            <p:nvPr>
              <p:custDataLst>
                <p:tags r:id="rId14"/>
              </p:custDataLst>
            </p:nvPr>
          </p:nvSpPr>
          <p:spPr>
            <a:xfrm>
              <a:off x="4954270" y="4031615"/>
              <a:ext cx="2499995" cy="9702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550"/>
                </a:lnSpc>
              </a:pPr>
              <a:r>
                <a:rPr lang="en-US" alt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</a:t>
              </a:r>
              <a:r>
                <a:rPr lang="zh-CN" altLang="en-US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赛题背景与相关方案调研</a:t>
              </a:r>
              <a:r>
                <a:rPr lang="en-US" alt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  </a:t>
              </a:r>
              <a:endParaRPr lang="en-US" alt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  <a:p>
              <a:pPr algn="l">
                <a:lnSpc>
                  <a:spcPts val="2550"/>
                </a:lnSpc>
              </a:pPr>
              <a:r>
                <a:rPr lang="en-US" alt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</a:t>
              </a:r>
              <a:r>
                <a:rPr lang="zh-CN" altLang="en-US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技术资料整理与路线分析</a:t>
              </a:r>
              <a:r>
                <a:rPr lang="en-US" alt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 </a:t>
              </a:r>
              <a:endParaRPr lang="en-US" alt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  <a:p>
              <a:pPr algn="l">
                <a:lnSpc>
                  <a:spcPts val="2550"/>
                </a:lnSpc>
              </a:pPr>
              <a:r>
                <a:rPr lang="en-US" alt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</a:t>
              </a:r>
              <a:r>
                <a:rPr lang="zh-CN" altLang="en-US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设计开发文档撰</a:t>
              </a:r>
              <a:endParaRPr lang="zh-CN" altLang="en-US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  <a:p>
              <a:pPr algn="l">
                <a:lnSpc>
                  <a:spcPts val="2550"/>
                </a:lnSpc>
              </a:pPr>
              <a:r>
                <a:rPr lang="en-US" alt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  </a:t>
              </a:r>
              <a:r>
                <a:rPr lang="zh-CN" altLang="en-US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写</a:t>
              </a:r>
              <a:r>
                <a:rPr lang="en-US" alt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  </a:t>
              </a:r>
              <a:endParaRPr lang="en-US" alt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  <a:p>
              <a:pPr algn="l">
                <a:lnSpc>
                  <a:spcPts val="2550"/>
                </a:lnSpc>
              </a:pPr>
              <a:r>
                <a:rPr lang="en-US" alt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</a:t>
              </a:r>
              <a:r>
                <a:rPr lang="zh-CN" altLang="en-US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阶段性开发记录整理</a:t>
              </a:r>
              <a:r>
                <a:rPr lang="en-US" alt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  </a:t>
              </a:r>
              <a:endParaRPr lang="en-US" alt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  <a:p>
              <a:pPr algn="l">
                <a:lnSpc>
                  <a:spcPts val="2550"/>
                </a:lnSpc>
              </a:pPr>
              <a:r>
                <a:rPr lang="en-US" alt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</a:t>
              </a:r>
              <a:r>
                <a:rPr lang="zh-CN" altLang="en-US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汇报材料与说明文档配套准备</a:t>
              </a:r>
              <a:endParaRPr lang="zh-CN" altLang="en-US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6" name="Group 26"/>
          <p:cNvGrpSpPr/>
          <p:nvPr>
            <p:custDataLst>
              <p:tags r:id="rId15"/>
            </p:custDataLst>
          </p:nvPr>
        </p:nvGrpSpPr>
        <p:grpSpPr>
          <a:xfrm>
            <a:off x="8121650" y="1503045"/>
            <a:ext cx="3276600" cy="4599940"/>
            <a:chOff x="8121650" y="1503045"/>
            <a:chExt cx="3276600" cy="4599940"/>
          </a:xfrm>
        </p:grpSpPr>
        <p:sp>
          <p:nvSpPr>
            <p:cNvPr id="20" name="Rectangle 20"/>
            <p:cNvSpPr/>
            <p:nvPr>
              <p:custDataLst>
                <p:tags r:id="rId16"/>
              </p:custDataLst>
            </p:nvPr>
          </p:nvSpPr>
          <p:spPr>
            <a:xfrm>
              <a:off x="8121650" y="1503045"/>
              <a:ext cx="3276600" cy="4599940"/>
            </a:xfrm>
            <a:prstGeom prst="roundRect">
              <a:avLst>
                <a:gd name="adj" fmla="val 5814"/>
              </a:avLst>
            </a:prstGeom>
            <a:solidFill>
              <a:srgbClr val="F4F8FF"/>
            </a:solidFill>
            <a:ln w="9525">
              <a:solidFill>
                <a:srgbClr val="C9D9F2"/>
              </a:solidFill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1" name="Ellipse 21"/>
            <p:cNvSpPr/>
            <p:nvPr>
              <p:custDataLst>
                <p:tags r:id="rId17"/>
              </p:custDataLst>
            </p:nvPr>
          </p:nvSpPr>
          <p:spPr>
            <a:xfrm>
              <a:off x="9315450" y="1737360"/>
              <a:ext cx="800100" cy="800100"/>
            </a:xfrm>
            <a:prstGeom prst="ellipse">
              <a:avLst/>
            </a:prstGeom>
            <a:solidFill>
              <a:srgbClr val="002060"/>
            </a:solidFill>
            <a:ln>
              <a:noFill/>
            </a:ln>
          </p:spPr>
        </p:sp>
        <p:sp>
          <p:nvSpPr>
            <p:cNvPr id="22" name="TextBox 22"/>
            <p:cNvSpPr txBox="1"/>
            <p:nvPr>
              <p:custDataLst>
                <p:tags r:id="rId18"/>
              </p:custDataLst>
            </p:nvPr>
          </p:nvSpPr>
          <p:spPr>
            <a:xfrm>
              <a:off x="9622688" y="2025015"/>
              <a:ext cx="18562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C</a:t>
              </a:r>
              <a:endParaRPr lang="en-US" sz="2100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3" name="TextBox 23"/>
            <p:cNvSpPr txBox="1"/>
            <p:nvPr>
              <p:custDataLst>
                <p:tags r:id="rId19"/>
              </p:custDataLst>
            </p:nvPr>
          </p:nvSpPr>
          <p:spPr>
            <a:xfrm>
              <a:off x="9315133" y="2650807"/>
              <a:ext cx="93154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dirty="0">
                  <a:solidFill>
                    <a:srgbClr val="002060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徐子淳</a:t>
              </a:r>
              <a:endParaRPr lang="zh-CN" sz="225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24" name="TextBox 24"/>
            <p:cNvSpPr txBox="1"/>
            <p:nvPr>
              <p:custDataLst>
                <p:tags r:id="rId20"/>
              </p:custDataLst>
            </p:nvPr>
          </p:nvSpPr>
          <p:spPr>
            <a:xfrm>
              <a:off x="8858250" y="3203575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44546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搜集资料，测试</a:t>
              </a:r>
              <a:endParaRPr lang="zh-CN" sz="1800" dirty="0">
                <a:solidFill>
                  <a:srgbClr val="44546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5" name="TextBox 25"/>
            <p:cNvSpPr txBox="1"/>
            <p:nvPr>
              <p:custDataLst>
                <p:tags r:id="rId21"/>
              </p:custDataLst>
            </p:nvPr>
          </p:nvSpPr>
          <p:spPr>
            <a:xfrm>
              <a:off x="8615680" y="3572510"/>
              <a:ext cx="2516505" cy="9702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550"/>
                </a:lnSpc>
              </a:pPr>
              <a:r>
                <a:rPr lang="en-US" alt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</a:t>
              </a:r>
              <a:r>
                <a:rPr lang="zh-CN" altLang="en-US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参与技术调研与方案讨论</a:t>
              </a:r>
              <a:r>
                <a:rPr lang="en-US" alt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 </a:t>
              </a:r>
              <a:endParaRPr lang="en-US" alt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  <a:p>
              <a:pPr algn="l">
                <a:lnSpc>
                  <a:spcPts val="2550"/>
                </a:lnSpc>
              </a:pPr>
              <a:r>
                <a:rPr lang="en-US" alt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</a:t>
              </a:r>
              <a:r>
                <a:rPr lang="zh-CN" altLang="en-US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测试方案设计与基准脚本整理</a:t>
              </a:r>
              <a:r>
                <a:rPr lang="en-US" alt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  </a:t>
              </a:r>
              <a:endParaRPr lang="en-US" alt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  <a:p>
              <a:pPr algn="l">
                <a:lnSpc>
                  <a:spcPts val="2550"/>
                </a:lnSpc>
              </a:pPr>
              <a:r>
                <a:rPr lang="en-US" alt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</a:t>
              </a:r>
              <a:r>
                <a:rPr lang="zh-CN" altLang="en-US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长上下文</a:t>
              </a:r>
              <a:r>
                <a:rPr lang="en-US" alt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/</a:t>
              </a:r>
              <a:r>
                <a:rPr lang="zh-CN" altLang="en-US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超容量</a:t>
              </a:r>
              <a:r>
                <a:rPr lang="en-US" alt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/</a:t>
              </a:r>
              <a:r>
                <a:rPr lang="zh-CN" altLang="en-US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混合负载实验验证</a:t>
              </a:r>
              <a:r>
                <a:rPr lang="en-US" alt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  </a:t>
              </a:r>
              <a:endParaRPr lang="en-US" alt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  <a:p>
              <a:pPr algn="l">
                <a:lnSpc>
                  <a:spcPts val="2550"/>
                </a:lnSpc>
              </a:pPr>
              <a:r>
                <a:rPr lang="en-US" alt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</a:t>
              </a:r>
              <a:r>
                <a:rPr lang="zh-CN" altLang="en-US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代码调试与问题修复</a:t>
              </a:r>
              <a:r>
                <a:rPr lang="en-US" alt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  </a:t>
              </a:r>
              <a:endParaRPr lang="en-US" alt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  <a:p>
              <a:pPr algn="l">
                <a:lnSpc>
                  <a:spcPts val="2550"/>
                </a:lnSpc>
              </a:pPr>
              <a:r>
                <a:rPr lang="en-US" alt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</a:t>
              </a:r>
              <a:r>
                <a:rPr lang="zh-CN" altLang="en-US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文档与展示材料辅助完善</a:t>
              </a:r>
              <a:endParaRPr lang="zh-CN" altLang="en-US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11229086" y="6404610"/>
            <a:ext cx="168910" cy="184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6B728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18</a:t>
            </a:r>
            <a:endParaRPr lang="en-US" sz="1200" dirty="0">
              <a:solidFill>
                <a:srgbClr val="6B728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 rot="10800000">
            <a:off x="3763" y="2110"/>
            <a:ext cx="12184475" cy="242512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 rot="10800000">
            <a:off x="3763" y="2494518"/>
            <a:ext cx="12184475" cy="7065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3537819" y="3909130"/>
            <a:ext cx="5116363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595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感谢聆听</a:t>
            </a:r>
            <a:endParaRPr lang="zh-CN" altLang="en-US" sz="6595" b="1" dirty="0">
              <a:solidFill>
                <a:schemeClr val="accent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327415" y="-21882"/>
            <a:ext cx="11537173" cy="3150235"/>
          </a:xfrm>
          <a:prstGeom prst="rect">
            <a:avLst/>
          </a:prstGeom>
        </p:spPr>
        <p:txBody>
          <a:bodyPr wrap="square" lIns="91378" tIns="45689" rIns="91378" bIns="45689">
            <a:spAutoFit/>
          </a:bodyPr>
          <a:lstStyle>
            <a:defPPr>
              <a:defRPr lang="zh-CN"/>
            </a:defPPr>
            <a:lvl1pPr algn="ctr">
              <a:defRPr sz="105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algn="dist"/>
            <a:r>
              <a:rPr lang="en-US" altLang="zh-CN" sz="19885" b="1" dirty="0">
                <a:solidFill>
                  <a:schemeClr val="bg1">
                    <a:alpha val="10000"/>
                  </a:schemeClr>
                </a:solidFill>
              </a:rPr>
              <a:t>THANKS</a:t>
            </a:r>
            <a:endParaRPr lang="zh-CN" altLang="en-US" sz="19885" b="1" dirty="0">
              <a:solidFill>
                <a:schemeClr val="bg1">
                  <a:alpha val="10000"/>
                </a:schemeClr>
              </a:solidFill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4877157" y="1197713"/>
            <a:ext cx="2437684" cy="2437687"/>
            <a:chOff x="5007734" y="902247"/>
            <a:chExt cx="2543685" cy="2543686"/>
          </a:xfrm>
        </p:grpSpPr>
        <p:sp>
          <p:nvSpPr>
            <p:cNvPr id="8" name="椭圆 7"/>
            <p:cNvSpPr/>
            <p:nvPr/>
          </p:nvSpPr>
          <p:spPr>
            <a:xfrm>
              <a:off x="5007734" y="902247"/>
              <a:ext cx="2543685" cy="2543686"/>
            </a:xfrm>
            <a:prstGeom prst="ellipse">
              <a:avLst/>
            </a:prstGeom>
            <a:gradFill flip="none" rotWithShape="1">
              <a:gsLst>
                <a:gs pos="0">
                  <a:schemeClr val="bg1"/>
                </a:gs>
                <a:gs pos="100000">
                  <a:srgbClr val="E8E8E8"/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139700" dist="38100" dir="5400000" algn="t" rotWithShape="0">
                <a:prstClr val="black">
                  <a:alpha val="19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/>
            <p:cNvSpPr/>
            <p:nvPr/>
          </p:nvSpPr>
          <p:spPr>
            <a:xfrm rot="10800000">
              <a:off x="5160137" y="1054647"/>
              <a:ext cx="2213120" cy="2213120"/>
            </a:xfrm>
            <a:prstGeom prst="ellipse">
              <a:avLst/>
            </a:prstGeom>
            <a:gradFill flip="none" rotWithShape="1">
              <a:gsLst>
                <a:gs pos="0">
                  <a:schemeClr val="bg1"/>
                </a:gs>
                <a:gs pos="100000">
                  <a:srgbClr val="E8E8E8"/>
                </a:gs>
              </a:gsLst>
              <a:lin ang="5400000" scaled="1"/>
              <a:tileRect/>
            </a:gradFill>
            <a:ln>
              <a:noFill/>
            </a:ln>
            <a:effectLst>
              <a:innerShdw blurRad="88900">
                <a:prstClr val="black">
                  <a:alpha val="16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0" name="图片 9"/>
          <p:cNvPicPr/>
          <p:nvPr/>
        </p:nvPicPr>
        <p:blipFill>
          <a:blip r:embed="rId1"/>
          <a:stretch>
            <a:fillRect/>
          </a:stretch>
        </p:blipFill>
        <p:spPr>
          <a:xfrm>
            <a:off x="5125049" y="1452197"/>
            <a:ext cx="1941900" cy="1925401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176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DIAGRAM_VIRTUALLY_FRAME" val="{&quot;height&quot;:331.5,&quot;left&quot;:54,&quot;top&quot;:127.5,&quot;width&quot;:853.8}"/>
</p:tagLst>
</file>

<file path=ppt/tags/tag64.xml><?xml version="1.0" encoding="utf-8"?>
<p:tagLst xmlns:p="http://schemas.openxmlformats.org/presentationml/2006/main">
  <p:tag name="KSO_WM_DIAGRAM_VIRTUALLY_FRAME" val="{&quot;height&quot;:331.5,&quot;left&quot;:54,&quot;top&quot;:127.5,&quot;width&quot;:853.8}"/>
</p:tagLst>
</file>

<file path=ppt/tags/tag65.xml><?xml version="1.0" encoding="utf-8"?>
<p:tagLst xmlns:p="http://schemas.openxmlformats.org/presentationml/2006/main">
  <p:tag name="KSO_WM_DIAGRAM_VIRTUALLY_FRAME" val="{&quot;height&quot;:331.5,&quot;left&quot;:54,&quot;top&quot;:127.5,&quot;width&quot;:853.8}"/>
</p:tagLst>
</file>

<file path=ppt/tags/tag66.xml><?xml version="1.0" encoding="utf-8"?>
<p:tagLst xmlns:p="http://schemas.openxmlformats.org/presentationml/2006/main">
  <p:tag name="KSO_WM_DIAGRAM_VIRTUALLY_FRAME" val="{&quot;height&quot;:331.5,&quot;left&quot;:54,&quot;top&quot;:127.5,&quot;width&quot;:853.8}"/>
</p:tagLst>
</file>

<file path=ppt/tags/tag67.xml><?xml version="1.0" encoding="utf-8"?>
<p:tagLst xmlns:p="http://schemas.openxmlformats.org/presentationml/2006/main">
  <p:tag name="KSO_WM_DIAGRAM_VIRTUALLY_FRAME" val="{&quot;height&quot;:331.5,&quot;left&quot;:54,&quot;top&quot;:127.5,&quot;width&quot;:853.8}"/>
</p:tagLst>
</file>

<file path=ppt/tags/tag68.xml><?xml version="1.0" encoding="utf-8"?>
<p:tagLst xmlns:p="http://schemas.openxmlformats.org/presentationml/2006/main">
  <p:tag name="KSO_WM_DIAGRAM_VIRTUALLY_FRAME" val="{&quot;height&quot;:331.5,&quot;left&quot;:54,&quot;top&quot;:127.5,&quot;width&quot;:853.8}"/>
</p:tagLst>
</file>

<file path=ppt/tags/tag69.xml><?xml version="1.0" encoding="utf-8"?>
<p:tagLst xmlns:p="http://schemas.openxmlformats.org/presentationml/2006/main">
  <p:tag name="KSO_WM_DIAGRAM_VIRTUALLY_FRAME" val="{&quot;height&quot;:331.5,&quot;left&quot;:54,&quot;top&quot;:127.5,&quot;width&quot;:853.8}"/>
</p:tagLst>
</file>

<file path=ppt/tags/tag70.xml><?xml version="1.0" encoding="utf-8"?>
<p:tagLst xmlns:p="http://schemas.openxmlformats.org/presentationml/2006/main">
  <p:tag name="KSO_WM_DIAGRAM_VIRTUALLY_FRAME" val="{&quot;height&quot;:331.5,&quot;left&quot;:54,&quot;top&quot;:127.5,&quot;width&quot;:853.8}"/>
</p:tagLst>
</file>

<file path=ppt/tags/tag71.xml><?xml version="1.0" encoding="utf-8"?>
<p:tagLst xmlns:p="http://schemas.openxmlformats.org/presentationml/2006/main">
  <p:tag name="KSO_WM_DIAGRAM_VIRTUALLY_FRAME" val="{&quot;height&quot;:331.5,&quot;left&quot;:54,&quot;top&quot;:127.5,&quot;width&quot;:853.8}"/>
</p:tagLst>
</file>

<file path=ppt/tags/tag72.xml><?xml version="1.0" encoding="utf-8"?>
<p:tagLst xmlns:p="http://schemas.openxmlformats.org/presentationml/2006/main">
  <p:tag name="KSO_WM_DIAGRAM_VIRTUALLY_FRAME" val="{&quot;height&quot;:331.5,&quot;left&quot;:54,&quot;top&quot;:127.5,&quot;width&quot;:853.8}"/>
</p:tagLst>
</file>

<file path=ppt/tags/tag73.xml><?xml version="1.0" encoding="utf-8"?>
<p:tagLst xmlns:p="http://schemas.openxmlformats.org/presentationml/2006/main">
  <p:tag name="KSO_WM_DIAGRAM_VIRTUALLY_FRAME" val="{&quot;height&quot;:331.5,&quot;left&quot;:54,&quot;top&quot;:127.5,&quot;width&quot;:853.8}"/>
</p:tagLst>
</file>

<file path=ppt/tags/tag74.xml><?xml version="1.0" encoding="utf-8"?>
<p:tagLst xmlns:p="http://schemas.openxmlformats.org/presentationml/2006/main">
  <p:tag name="KSO_WM_DIAGRAM_VIRTUALLY_FRAME" val="{&quot;height&quot;:331.5,&quot;left&quot;:54,&quot;top&quot;:127.5,&quot;width&quot;:853.8}"/>
</p:tagLst>
</file>

<file path=ppt/tags/tag75.xml><?xml version="1.0" encoding="utf-8"?>
<p:tagLst xmlns:p="http://schemas.openxmlformats.org/presentationml/2006/main">
  <p:tag name="KSO_WM_DIAGRAM_VIRTUALLY_FRAME" val="{&quot;height&quot;:331.5,&quot;left&quot;:54,&quot;top&quot;:127.5,&quot;width&quot;:853.8}"/>
</p:tagLst>
</file>

<file path=ppt/tags/tag76.xml><?xml version="1.0" encoding="utf-8"?>
<p:tagLst xmlns:p="http://schemas.openxmlformats.org/presentationml/2006/main">
  <p:tag name="KSO_WM_DIAGRAM_VIRTUALLY_FRAME" val="{&quot;height&quot;:331.5,&quot;left&quot;:54,&quot;top&quot;:127.5,&quot;width&quot;:853.8}"/>
</p:tagLst>
</file>

<file path=ppt/tags/tag77.xml><?xml version="1.0" encoding="utf-8"?>
<p:tagLst xmlns:p="http://schemas.openxmlformats.org/presentationml/2006/main">
  <p:tag name="KSO_WM_DIAGRAM_VIRTUALLY_FRAME" val="{&quot;height&quot;:331.5,&quot;left&quot;:54,&quot;top&quot;:127.5,&quot;width&quot;:853.8}"/>
</p:tagLst>
</file>

<file path=ppt/tags/tag78.xml><?xml version="1.0" encoding="utf-8"?>
<p:tagLst xmlns:p="http://schemas.openxmlformats.org/presentationml/2006/main">
  <p:tag name="KSO_WM_DIAGRAM_VIRTUALLY_FRAME" val="{&quot;height&quot;:331.5,&quot;left&quot;:54,&quot;top&quot;:127.5,&quot;width&quot;:853.8}"/>
</p:tagLst>
</file>

<file path=ppt/tags/tag79.xml><?xml version="1.0" encoding="utf-8"?>
<p:tagLst xmlns:p="http://schemas.openxmlformats.org/presentationml/2006/main">
  <p:tag name="KSO_WM_DIAGRAM_VIRTUALLY_FRAME" val="{&quot;height&quot;:331.5,&quot;left&quot;:54,&quot;top&quot;:127.5,&quot;width&quot;:853.8}"/>
</p:tagLst>
</file>

<file path=ppt/tags/tag80.xml><?xml version="1.0" encoding="utf-8"?>
<p:tagLst xmlns:p="http://schemas.openxmlformats.org/presentationml/2006/main">
  <p:tag name="KSO_WM_DIAGRAM_VIRTUALLY_FRAME" val="{&quot;height&quot;:331.5,&quot;left&quot;:54,&quot;top&quot;:127.5,&quot;width&quot;:853.8}"/>
</p:tagLst>
</file>

<file path=ppt/tags/tag81.xml><?xml version="1.0" encoding="utf-8"?>
<p:tagLst xmlns:p="http://schemas.openxmlformats.org/presentationml/2006/main">
  <p:tag name="KSO_WM_DIAGRAM_VIRTUALLY_FRAME" val="{&quot;height&quot;:331.5,&quot;left&quot;:54,&quot;top&quot;:127.5,&quot;width&quot;:853.8}"/>
</p:tagLst>
</file>

<file path=ppt/tags/tag82.xml><?xml version="1.0" encoding="utf-8"?>
<p:tagLst xmlns:p="http://schemas.openxmlformats.org/presentationml/2006/main">
  <p:tag name="KSO_WM_DIAGRAM_VIRTUALLY_FRAME" val="{&quot;height&quot;:331.5,&quot;left&quot;:54,&quot;top&quot;:127.5,&quot;width&quot;:853.8}"/>
</p:tagLst>
</file>

<file path=ppt/tags/tag83.xml><?xml version="1.0" encoding="utf-8"?>
<p:tagLst xmlns:p="http://schemas.openxmlformats.org/presentationml/2006/main">
  <p:tag name="KSO_WM_DIAGRAM_VIRTUALLY_FRAME" val="{&quot;height&quot;:307.5,&quot;left&quot;:54,&quot;top&quot;:127.5,&quot;width&quot;:852}"/>
</p:tagLst>
</file>

<file path=ppt/tags/tag84.xml><?xml version="1.0" encoding="utf-8"?>
<p:tagLst xmlns:p="http://schemas.openxmlformats.org/presentationml/2006/main">
  <p:tag name="KSO_WM_DIAGRAM_VIRTUALLY_FRAME" val="{&quot;height&quot;:307.5,&quot;left&quot;:54,&quot;top&quot;:127.5,&quot;width&quot;:852}"/>
</p:tagLst>
</file>

<file path=ppt/tags/tag85.xml><?xml version="1.0" encoding="utf-8"?>
<p:tagLst xmlns:p="http://schemas.openxmlformats.org/presentationml/2006/main">
  <p:tag name="KSO_WM_DIAGRAM_VIRTUALLY_FRAME" val="{&quot;height&quot;:307.5,&quot;left&quot;:54,&quot;top&quot;:127.5,&quot;width&quot;:852}"/>
</p:tagLst>
</file>

<file path=ppt/tags/tag86.xml><?xml version="1.0" encoding="utf-8"?>
<p:tagLst xmlns:p="http://schemas.openxmlformats.org/presentationml/2006/main">
  <p:tag name="KSO_WM_DIAGRAM_VIRTUALLY_FRAME" val="{&quot;height&quot;:307.5,&quot;left&quot;:54,&quot;top&quot;:127.5,&quot;width&quot;:852}"/>
</p:tagLst>
</file>

<file path=ppt/tags/tag87.xml><?xml version="1.0" encoding="utf-8"?>
<p:tagLst xmlns:p="http://schemas.openxmlformats.org/presentationml/2006/main">
  <p:tag name="KSO_WM_DIAGRAM_VIRTUALLY_FRAME" val="{&quot;height&quot;:307.5,&quot;left&quot;:54,&quot;top&quot;:127.5,&quot;width&quot;:852}"/>
</p:tagLst>
</file>

<file path=ppt/tags/tag88.xml><?xml version="1.0" encoding="utf-8"?>
<p:tagLst xmlns:p="http://schemas.openxmlformats.org/presentationml/2006/main">
  <p:tag name="KSO_WM_DIAGRAM_VIRTUALLY_FRAME" val="{&quot;height&quot;:307.5,&quot;left&quot;:54,&quot;top&quot;:127.5,&quot;width&quot;:852}"/>
</p:tagLst>
</file>

<file path=ppt/tags/tag89.xml><?xml version="1.0" encoding="utf-8"?>
<p:tagLst xmlns:p="http://schemas.openxmlformats.org/presentationml/2006/main">
  <p:tag name="KSO_WM_DIAGRAM_VIRTUALLY_FRAME" val="{&quot;height&quot;:307.5,&quot;left&quot;:54,&quot;top&quot;:127.5,&quot;width&quot;:852}"/>
</p:tagLst>
</file>

<file path=ppt/tags/tag90.xml><?xml version="1.0" encoding="utf-8"?>
<p:tagLst xmlns:p="http://schemas.openxmlformats.org/presentationml/2006/main">
  <p:tag name="KSO_WM_DIAGRAM_VIRTUALLY_FRAME" val="{&quot;height&quot;:307.5,&quot;left&quot;:54,&quot;top&quot;:127.5,&quot;width&quot;:852}"/>
</p:tagLst>
</file>

<file path=ppt/tags/tag91.xml><?xml version="1.0" encoding="utf-8"?>
<p:tagLst xmlns:p="http://schemas.openxmlformats.org/presentationml/2006/main">
  <p:tag name="KSO_WM_DIAGRAM_VIRTUALLY_FRAME" val="{&quot;height&quot;:307.5,&quot;left&quot;:54,&quot;top&quot;:127.5,&quot;width&quot;:852}"/>
</p:tagLst>
</file>

<file path=ppt/tags/tag92.xml><?xml version="1.0" encoding="utf-8"?>
<p:tagLst xmlns:p="http://schemas.openxmlformats.org/presentationml/2006/main">
  <p:tag name="KSO_WM_DIAGRAM_VIRTUALLY_FRAME" val="{&quot;height&quot;:307.5,&quot;left&quot;:54,&quot;top&quot;:127.5,&quot;width&quot;:852}"/>
</p:tagLst>
</file>

<file path=ppt/tags/tag93.xml><?xml version="1.0" encoding="utf-8"?>
<p:tagLst xmlns:p="http://schemas.openxmlformats.org/presentationml/2006/main">
  <p:tag name="KSO_WM_DIAGRAM_VIRTUALLY_FRAME" val="{&quot;height&quot;:307.5,&quot;left&quot;:54,&quot;top&quot;:127.5,&quot;width&quot;:852}"/>
</p:tagLst>
</file>

<file path=ppt/tags/tag94.xml><?xml version="1.0" encoding="utf-8"?>
<p:tagLst xmlns:p="http://schemas.openxmlformats.org/presentationml/2006/main">
  <p:tag name="KSO_WM_DIAGRAM_VIRTUALLY_FRAME" val="{&quot;height&quot;:307.5,&quot;left&quot;:54,&quot;top&quot;:127.5,&quot;width&quot;:852}"/>
</p:tagLst>
</file>

<file path=ppt/tags/tag95.xml><?xml version="1.0" encoding="utf-8"?>
<p:tagLst xmlns:p="http://schemas.openxmlformats.org/presentationml/2006/main">
  <p:tag name="KSO_WM_DIAGRAM_VIRTUALLY_FRAME" val="{&quot;height&quot;:307.5,&quot;left&quot;:54,&quot;top&quot;:127.5,&quot;width&quot;:852}"/>
</p:tagLst>
</file>

<file path=ppt/tags/tag96.xml><?xml version="1.0" encoding="utf-8"?>
<p:tagLst xmlns:p="http://schemas.openxmlformats.org/presentationml/2006/main">
  <p:tag name="KSO_WM_DIAGRAM_VIRTUALLY_FRAME" val="{&quot;height&quot;:307.5,&quot;left&quot;:54,&quot;top&quot;:127.5,&quot;width&quot;:852}"/>
</p:tagLst>
</file>

<file path=ppt/tags/tag97.xml><?xml version="1.0" encoding="utf-8"?>
<p:tagLst xmlns:p="http://schemas.openxmlformats.org/presentationml/2006/main">
  <p:tag name="KSO_WM_DIAGRAM_VIRTUALLY_FRAME" val="{&quot;height&quot;:307.5,&quot;left&quot;:54,&quot;top&quot;:127.5,&quot;width&quot;:852}"/>
</p:tagLst>
</file>

<file path=ppt/tags/tag98.xml><?xml version="1.0" encoding="utf-8"?>
<p:tagLst xmlns:p="http://schemas.openxmlformats.org/presentationml/2006/main">
  <p:tag name="KSO_WM_DIAGRAM_VIRTUALLY_FRAME" val="{&quot;height&quot;:307.5,&quot;left&quot;:54,&quot;top&quot;:127.5,&quot;width&quot;:852}"/>
</p:tagLst>
</file>

<file path=ppt/tags/tag99.xml><?xml version="1.0" encoding="utf-8"?>
<p:tagLst xmlns:p="http://schemas.openxmlformats.org/presentationml/2006/main">
  <p:tag name="KSO_WM_DIAGRAM_VIRTUALLY_FRAME" val="{&quot;height&quot;:307.5,&quot;left&quot;:54,&quot;top&quot;:127.5,&quot;width&quot;:852}"/>
</p:tagLst>
</file>

<file path=ppt/tags/tag100.xml><?xml version="1.0" encoding="utf-8"?>
<p:tagLst xmlns:p="http://schemas.openxmlformats.org/presentationml/2006/main">
  <p:tag name="KSO_WM_DIAGRAM_VIRTUALLY_FRAME" val="{&quot;height&quot;:307.5,&quot;left&quot;:54,&quot;top&quot;:127.5,&quot;width&quot;:852}"/>
</p:tagLst>
</file>

<file path=ppt/tags/tag101.xml><?xml version="1.0" encoding="utf-8"?>
<p:tagLst xmlns:p="http://schemas.openxmlformats.org/presentationml/2006/main">
  <p:tag name="KSO_WM_DIAGRAM_VIRTUALLY_FRAME" val="{&quot;height&quot;:307.5,&quot;left&quot;:54,&quot;top&quot;:127.5,&quot;width&quot;:852}"/>
</p:tagLst>
</file>

<file path=ppt/tags/tag102.xml><?xml version="1.0" encoding="utf-8"?>
<p:tagLst xmlns:p="http://schemas.openxmlformats.org/presentationml/2006/main">
  <p:tag name="KSO_WM_DIAGRAM_VIRTUALLY_FRAME" val="{&quot;height&quot;:307.5,&quot;left&quot;:54,&quot;top&quot;:127.5,&quot;width&quot;:852}"/>
</p:tagLst>
</file>

<file path=ppt/tags/tag103.xml><?xml version="1.0" encoding="utf-8"?>
<p:tagLst xmlns:p="http://schemas.openxmlformats.org/presentationml/2006/main">
  <p:tag name="KSO_WM_DIAGRAM_VIRTUALLY_FRAME" val="{&quot;height&quot;:171,&quot;left&quot;:78,&quot;top&quot;:261,&quot;width&quot;:804.6899999999999}"/>
</p:tagLst>
</file>

<file path=ppt/tags/tag104.xml><?xml version="1.0" encoding="utf-8"?>
<p:tagLst xmlns:p="http://schemas.openxmlformats.org/presentationml/2006/main">
  <p:tag name="KSO_WM_DIAGRAM_VIRTUALLY_FRAME" val="{&quot;height&quot;:171,&quot;left&quot;:78,&quot;top&quot;:261,&quot;width&quot;:804.6899999999999}"/>
</p:tagLst>
</file>

<file path=ppt/tags/tag105.xml><?xml version="1.0" encoding="utf-8"?>
<p:tagLst xmlns:p="http://schemas.openxmlformats.org/presentationml/2006/main">
  <p:tag name="KSO_WM_DIAGRAM_VIRTUALLY_FRAME" val="{&quot;height&quot;:171,&quot;left&quot;:78,&quot;top&quot;:261,&quot;width&quot;:804.6899999999999}"/>
</p:tagLst>
</file>

<file path=ppt/tags/tag106.xml><?xml version="1.0" encoding="utf-8"?>
<p:tagLst xmlns:p="http://schemas.openxmlformats.org/presentationml/2006/main">
  <p:tag name="KSO_WM_DIAGRAM_VIRTUALLY_FRAME" val="{&quot;height&quot;:171,&quot;left&quot;:78,&quot;top&quot;:261,&quot;width&quot;:804.6899999999999}"/>
</p:tagLst>
</file>

<file path=ppt/tags/tag107.xml><?xml version="1.0" encoding="utf-8"?>
<p:tagLst xmlns:p="http://schemas.openxmlformats.org/presentationml/2006/main">
  <p:tag name="KSO_WM_DIAGRAM_VIRTUALLY_FRAME" val="{&quot;height&quot;:171,&quot;left&quot;:78,&quot;top&quot;:261,&quot;width&quot;:804.6899999999999}"/>
</p:tagLst>
</file>

<file path=ppt/tags/tag108.xml><?xml version="1.0" encoding="utf-8"?>
<p:tagLst xmlns:p="http://schemas.openxmlformats.org/presentationml/2006/main">
  <p:tag name="KSO_WM_DIAGRAM_VIRTUALLY_FRAME" val="{&quot;height&quot;:171,&quot;left&quot;:78,&quot;top&quot;:261,&quot;width&quot;:804.6899999999999}"/>
</p:tagLst>
</file>

<file path=ppt/tags/tag109.xml><?xml version="1.0" encoding="utf-8"?>
<p:tagLst xmlns:p="http://schemas.openxmlformats.org/presentationml/2006/main">
  <p:tag name="KSO_WM_DIAGRAM_VIRTUALLY_FRAME" val="{&quot;height&quot;:171,&quot;left&quot;:78,&quot;top&quot;:261,&quot;width&quot;:804.6899999999999}"/>
</p:tagLst>
</file>

<file path=ppt/tags/tag110.xml><?xml version="1.0" encoding="utf-8"?>
<p:tagLst xmlns:p="http://schemas.openxmlformats.org/presentationml/2006/main">
  <p:tag name="KSO_WM_DIAGRAM_VIRTUALLY_FRAME" val="{&quot;height&quot;:171,&quot;left&quot;:78,&quot;top&quot;:261,&quot;width&quot;:804.6899999999999}"/>
</p:tagLst>
</file>

<file path=ppt/tags/tag111.xml><?xml version="1.0" encoding="utf-8"?>
<p:tagLst xmlns:p="http://schemas.openxmlformats.org/presentationml/2006/main">
  <p:tag name="KSO_WM_DIAGRAM_VIRTUALLY_FRAME" val="{&quot;height&quot;:171,&quot;left&quot;:78,&quot;top&quot;:261,&quot;width&quot;:804.6899999999999}"/>
</p:tagLst>
</file>

<file path=ppt/tags/tag112.xml><?xml version="1.0" encoding="utf-8"?>
<p:tagLst xmlns:p="http://schemas.openxmlformats.org/presentationml/2006/main">
  <p:tag name="KSO_WM_DIAGRAM_VIRTUALLY_FRAME" val="{&quot;height&quot;:171,&quot;left&quot;:78,&quot;top&quot;:261,&quot;width&quot;:804.6899999999999}"/>
</p:tagLst>
</file>

<file path=ppt/tags/tag113.xml><?xml version="1.0" encoding="utf-8"?>
<p:tagLst xmlns:p="http://schemas.openxmlformats.org/presentationml/2006/main">
  <p:tag name="KSO_WM_DIAGRAM_VIRTUALLY_FRAME" val="{&quot;height&quot;:171,&quot;left&quot;:78,&quot;top&quot;:261,&quot;width&quot;:804.6899999999999}"/>
</p:tagLst>
</file>

<file path=ppt/tags/tag114.xml><?xml version="1.0" encoding="utf-8"?>
<p:tagLst xmlns:p="http://schemas.openxmlformats.org/presentationml/2006/main">
  <p:tag name="KSO_WM_DIAGRAM_VIRTUALLY_FRAME" val="{&quot;height&quot;:171,&quot;left&quot;:78,&quot;top&quot;:261,&quot;width&quot;:804.6899999999999}"/>
</p:tagLst>
</file>

<file path=ppt/tags/tag115.xml><?xml version="1.0" encoding="utf-8"?>
<p:tagLst xmlns:p="http://schemas.openxmlformats.org/presentationml/2006/main">
  <p:tag name="KSO_WM_DIAGRAM_VIRTUALLY_FRAME" val="{&quot;height&quot;:219,&quot;left&quot;:60,&quot;top&quot;:228,&quot;width&quot;:910.7700000000001}"/>
</p:tagLst>
</file>

<file path=ppt/tags/tag116.xml><?xml version="1.0" encoding="utf-8"?>
<p:tagLst xmlns:p="http://schemas.openxmlformats.org/presentationml/2006/main">
  <p:tag name="KSO_WM_DIAGRAM_VIRTUALLY_FRAME" val="{&quot;height&quot;:219,&quot;left&quot;:60,&quot;top&quot;:228,&quot;width&quot;:910.7700000000001}"/>
</p:tagLst>
</file>

<file path=ppt/tags/tag117.xml><?xml version="1.0" encoding="utf-8"?>
<p:tagLst xmlns:p="http://schemas.openxmlformats.org/presentationml/2006/main">
  <p:tag name="KSO_WM_DIAGRAM_VIRTUALLY_FRAME" val="{&quot;height&quot;:219,&quot;left&quot;:60,&quot;top&quot;:228,&quot;width&quot;:910.7700000000001}"/>
</p:tagLst>
</file>

<file path=ppt/tags/tag118.xml><?xml version="1.0" encoding="utf-8"?>
<p:tagLst xmlns:p="http://schemas.openxmlformats.org/presentationml/2006/main">
  <p:tag name="KSO_WM_DIAGRAM_VIRTUALLY_FRAME" val="{&quot;height&quot;:219,&quot;left&quot;:60,&quot;top&quot;:228,&quot;width&quot;:910.7700000000001}"/>
</p:tagLst>
</file>

<file path=ppt/tags/tag119.xml><?xml version="1.0" encoding="utf-8"?>
<p:tagLst xmlns:p="http://schemas.openxmlformats.org/presentationml/2006/main">
  <p:tag name="KSO_WM_DIAGRAM_VIRTUALLY_FRAME" val="{&quot;height&quot;:219,&quot;left&quot;:60,&quot;top&quot;:228,&quot;width&quot;:910.7700000000001}"/>
</p:tagLst>
</file>

<file path=ppt/tags/tag120.xml><?xml version="1.0" encoding="utf-8"?>
<p:tagLst xmlns:p="http://schemas.openxmlformats.org/presentationml/2006/main">
  <p:tag name="KSO_WM_DIAGRAM_VIRTUALLY_FRAME" val="{&quot;height&quot;:219,&quot;left&quot;:60,&quot;top&quot;:228,&quot;width&quot;:910.7700000000001}"/>
</p:tagLst>
</file>

<file path=ppt/tags/tag121.xml><?xml version="1.0" encoding="utf-8"?>
<p:tagLst xmlns:p="http://schemas.openxmlformats.org/presentationml/2006/main">
  <p:tag name="KSO_WM_DIAGRAM_VIRTUALLY_FRAME" val="{&quot;height&quot;:219,&quot;left&quot;:60,&quot;top&quot;:228,&quot;width&quot;:910.7700000000001}"/>
</p:tagLst>
</file>

<file path=ppt/tags/tag122.xml><?xml version="1.0" encoding="utf-8"?>
<p:tagLst xmlns:p="http://schemas.openxmlformats.org/presentationml/2006/main">
  <p:tag name="KSO_WM_DIAGRAM_VIRTUALLY_FRAME" val="{&quot;height&quot;:219,&quot;left&quot;:60,&quot;top&quot;:228,&quot;width&quot;:910.7700000000001}"/>
</p:tagLst>
</file>

<file path=ppt/tags/tag123.xml><?xml version="1.0" encoding="utf-8"?>
<p:tagLst xmlns:p="http://schemas.openxmlformats.org/presentationml/2006/main">
  <p:tag name="KSO_WM_DIAGRAM_VIRTUALLY_FRAME" val="{&quot;height&quot;:219,&quot;left&quot;:60,&quot;top&quot;:228,&quot;width&quot;:910.7700000000001}"/>
</p:tagLst>
</file>

<file path=ppt/tags/tag124.xml><?xml version="1.0" encoding="utf-8"?>
<p:tagLst xmlns:p="http://schemas.openxmlformats.org/presentationml/2006/main">
  <p:tag name="KSO_WM_DIAGRAM_VIRTUALLY_FRAME" val="{&quot;height&quot;:219,&quot;left&quot;:60,&quot;top&quot;:228,&quot;width&quot;:910.7700000000001}"/>
</p:tagLst>
</file>

<file path=ppt/tags/tag125.xml><?xml version="1.0" encoding="utf-8"?>
<p:tagLst xmlns:p="http://schemas.openxmlformats.org/presentationml/2006/main">
  <p:tag name="KSO_WM_DIAGRAM_VIRTUALLY_FRAME" val="{&quot;height&quot;:219,&quot;left&quot;:60,&quot;top&quot;:228,&quot;width&quot;:910.7700000000001}"/>
</p:tagLst>
</file>

<file path=ppt/tags/tag126.xml><?xml version="1.0" encoding="utf-8"?>
<p:tagLst xmlns:p="http://schemas.openxmlformats.org/presentationml/2006/main">
  <p:tag name="KSO_WM_DIAGRAM_VIRTUALLY_FRAME" val="{&quot;height&quot;:219,&quot;left&quot;:60,&quot;top&quot;:228,&quot;width&quot;:910.7700000000001}"/>
</p:tagLst>
</file>

<file path=ppt/tags/tag127.xml><?xml version="1.0" encoding="utf-8"?>
<p:tagLst xmlns:p="http://schemas.openxmlformats.org/presentationml/2006/main">
  <p:tag name="KSO_WM_DIAGRAM_VIRTUALLY_FRAME" val="{&quot;height&quot;:219,&quot;left&quot;:60,&quot;top&quot;:228,&quot;width&quot;:910.7700000000001}"/>
</p:tagLst>
</file>

<file path=ppt/tags/tag128.xml><?xml version="1.0" encoding="utf-8"?>
<p:tagLst xmlns:p="http://schemas.openxmlformats.org/presentationml/2006/main">
  <p:tag name="KSO_WM_DIAGRAM_VIRTUALLY_FRAME" val="{&quot;height&quot;:219,&quot;left&quot;:60,&quot;top&quot;:228,&quot;width&quot;:910.7700000000001}"/>
</p:tagLst>
</file>

<file path=ppt/tags/tag129.xml><?xml version="1.0" encoding="utf-8"?>
<p:tagLst xmlns:p="http://schemas.openxmlformats.org/presentationml/2006/main">
  <p:tag name="KSO_WM_DIAGRAM_VIRTUALLY_FRAME" val="{&quot;height&quot;:219,&quot;left&quot;:60,&quot;top&quot;:228,&quot;width&quot;:910.7700000000001}"/>
</p:tagLst>
</file>

<file path=ppt/tags/tag130.xml><?xml version="1.0" encoding="utf-8"?>
<p:tagLst xmlns:p="http://schemas.openxmlformats.org/presentationml/2006/main">
  <p:tag name="KSO_WM_DIAGRAM_VIRTUALLY_FRAME" val="{&quot;height&quot;:353.65,&quot;left&quot;:49.7,&quot;top&quot;:143.8,&quot;width&quot;:856.3}"/>
</p:tagLst>
</file>

<file path=ppt/tags/tag131.xml><?xml version="1.0" encoding="utf-8"?>
<p:tagLst xmlns:p="http://schemas.openxmlformats.org/presentationml/2006/main">
  <p:tag name="KSO_WM_DIAGRAM_VIRTUALLY_FRAME" val="{&quot;height&quot;:353.65,&quot;left&quot;:49.7,&quot;top&quot;:143.8,&quot;width&quot;:856.3}"/>
</p:tagLst>
</file>

<file path=ppt/tags/tag132.xml><?xml version="1.0" encoding="utf-8"?>
<p:tagLst xmlns:p="http://schemas.openxmlformats.org/presentationml/2006/main">
  <p:tag name="KSO_WM_DIAGRAM_VIRTUALLY_FRAME" val="{&quot;height&quot;:353.65,&quot;left&quot;:49.7,&quot;top&quot;:143.8,&quot;width&quot;:856.3}"/>
</p:tagLst>
</file>

<file path=ppt/tags/tag133.xml><?xml version="1.0" encoding="utf-8"?>
<p:tagLst xmlns:p="http://schemas.openxmlformats.org/presentationml/2006/main">
  <p:tag name="KSO_WM_DIAGRAM_VIRTUALLY_FRAME" val="{&quot;height&quot;:353.65,&quot;left&quot;:49.7,&quot;top&quot;:143.8,&quot;width&quot;:856.3}"/>
</p:tagLst>
</file>

<file path=ppt/tags/tag134.xml><?xml version="1.0" encoding="utf-8"?>
<p:tagLst xmlns:p="http://schemas.openxmlformats.org/presentationml/2006/main">
  <p:tag name="KSO_WM_DIAGRAM_VIRTUALLY_FRAME" val="{&quot;height&quot;:353.65,&quot;left&quot;:49.7,&quot;top&quot;:143.8,&quot;width&quot;:856.3}"/>
</p:tagLst>
</file>

<file path=ppt/tags/tag135.xml><?xml version="1.0" encoding="utf-8"?>
<p:tagLst xmlns:p="http://schemas.openxmlformats.org/presentationml/2006/main">
  <p:tag name="KSO_WM_DIAGRAM_VIRTUALLY_FRAME" val="{&quot;height&quot;:353.65,&quot;left&quot;:49.7,&quot;top&quot;:143.8,&quot;width&quot;:856.3}"/>
</p:tagLst>
</file>

<file path=ppt/tags/tag136.xml><?xml version="1.0" encoding="utf-8"?>
<p:tagLst xmlns:p="http://schemas.openxmlformats.org/presentationml/2006/main">
  <p:tag name="KSO_WM_DIAGRAM_VIRTUALLY_FRAME" val="{&quot;height&quot;:353.65,&quot;left&quot;:49.7,&quot;top&quot;:143.8,&quot;width&quot;:856.3}"/>
</p:tagLst>
</file>

<file path=ppt/tags/tag137.xml><?xml version="1.0" encoding="utf-8"?>
<p:tagLst xmlns:p="http://schemas.openxmlformats.org/presentationml/2006/main">
  <p:tag name="KSO_WM_DIAGRAM_VIRTUALLY_FRAME" val="{&quot;height&quot;:353.65,&quot;left&quot;:49.7,&quot;top&quot;:143.8,&quot;width&quot;:856.3}"/>
</p:tagLst>
</file>

<file path=ppt/tags/tag138.xml><?xml version="1.0" encoding="utf-8"?>
<p:tagLst xmlns:p="http://schemas.openxmlformats.org/presentationml/2006/main">
  <p:tag name="KSO_WM_DIAGRAM_VIRTUALLY_FRAME" val="{&quot;height&quot;:353.65,&quot;left&quot;:49.7,&quot;top&quot;:143.8,&quot;width&quot;:856.3}"/>
</p:tagLst>
</file>

<file path=ppt/tags/tag139.xml><?xml version="1.0" encoding="utf-8"?>
<p:tagLst xmlns:p="http://schemas.openxmlformats.org/presentationml/2006/main">
  <p:tag name="KSO_WM_DIAGRAM_VIRTUALLY_FRAME" val="{&quot;height&quot;:353.65,&quot;left&quot;:49.7,&quot;top&quot;:143.8,&quot;width&quot;:856.3}"/>
</p:tagLst>
</file>

<file path=ppt/tags/tag140.xml><?xml version="1.0" encoding="utf-8"?>
<p:tagLst xmlns:p="http://schemas.openxmlformats.org/presentationml/2006/main">
  <p:tag name="KSO_WM_DIAGRAM_VIRTUALLY_FRAME" val="{&quot;height&quot;:353.65,&quot;left&quot;:49.7,&quot;top&quot;:143.8,&quot;width&quot;:856.3}"/>
</p:tagLst>
</file>

<file path=ppt/tags/tag141.xml><?xml version="1.0" encoding="utf-8"?>
<p:tagLst xmlns:p="http://schemas.openxmlformats.org/presentationml/2006/main">
  <p:tag name="KSO_WM_DIAGRAM_VIRTUALLY_FRAME" val="{&quot;height&quot;:353.65,&quot;left&quot;:49.7,&quot;top&quot;:143.8,&quot;width&quot;:856.3}"/>
</p:tagLst>
</file>

<file path=ppt/tags/tag142.xml><?xml version="1.0" encoding="utf-8"?>
<p:tagLst xmlns:p="http://schemas.openxmlformats.org/presentationml/2006/main">
  <p:tag name="KSO_WM_DIAGRAM_VIRTUALLY_FRAME" val="{&quot;height&quot;:353.65,&quot;left&quot;:49.7,&quot;top&quot;:143.8,&quot;width&quot;:856.3}"/>
</p:tagLst>
</file>

<file path=ppt/tags/tag143.xml><?xml version="1.0" encoding="utf-8"?>
<p:tagLst xmlns:p="http://schemas.openxmlformats.org/presentationml/2006/main">
  <p:tag name="KSO_WM_DIAGRAM_VIRTUALLY_FRAME" val="{&quot;height&quot;:353.65,&quot;left&quot;:49.7,&quot;top&quot;:143.8,&quot;width&quot;:856.3}"/>
</p:tagLst>
</file>

<file path=ppt/tags/tag144.xml><?xml version="1.0" encoding="utf-8"?>
<p:tagLst xmlns:p="http://schemas.openxmlformats.org/presentationml/2006/main">
  <p:tag name="KSO_WM_DIAGRAM_VIRTUALLY_FRAME" val="{&quot;height&quot;:353.65,&quot;left&quot;:49.7,&quot;top&quot;:143.8,&quot;width&quot;:856.3}"/>
</p:tagLst>
</file>

<file path=ppt/tags/tag145.xml><?xml version="1.0" encoding="utf-8"?>
<p:tagLst xmlns:p="http://schemas.openxmlformats.org/presentationml/2006/main">
  <p:tag name="KSO_WM_DIAGRAM_VIRTUALLY_FRAME" val="{&quot;height&quot;:353.65,&quot;left&quot;:49.7,&quot;top&quot;:143.8,&quot;width&quot;:856.3}"/>
</p:tagLst>
</file>

<file path=ppt/tags/tag146.xml><?xml version="1.0" encoding="utf-8"?>
<p:tagLst xmlns:p="http://schemas.openxmlformats.org/presentationml/2006/main">
  <p:tag name="KSO_WM_DIAGRAM_VIRTUALLY_FRAME" val="{&quot;height&quot;:353.65,&quot;left&quot;:49.7,&quot;top&quot;:143.8,&quot;width&quot;:856.3}"/>
</p:tagLst>
</file>

<file path=ppt/tags/tag147.xml><?xml version="1.0" encoding="utf-8"?>
<p:tagLst xmlns:p="http://schemas.openxmlformats.org/presentationml/2006/main">
  <p:tag name="KSO_WM_DIAGRAM_VIRTUALLY_FRAME" val="{&quot;height&quot;:353.65,&quot;left&quot;:49.7,&quot;top&quot;:143.8,&quot;width&quot;:856.3}"/>
</p:tagLst>
</file>

<file path=ppt/tags/tag148.xml><?xml version="1.0" encoding="utf-8"?>
<p:tagLst xmlns:p="http://schemas.openxmlformats.org/presentationml/2006/main">
  <p:tag name="KSO_WM_DIAGRAM_VIRTUALLY_FRAME" val="{&quot;height&quot;:353.65,&quot;left&quot;:49.7,&quot;top&quot;:143.8,&quot;width&quot;:856.3}"/>
</p:tagLst>
</file>

<file path=ppt/tags/tag149.xml><?xml version="1.0" encoding="utf-8"?>
<p:tagLst xmlns:p="http://schemas.openxmlformats.org/presentationml/2006/main">
  <p:tag name="KSO_WM_DIAGRAM_VIRTUALLY_FRAME" val="{&quot;height&quot;:353.65,&quot;left&quot;:49.7,&quot;top&quot;:143.8,&quot;width&quot;:856.3}"/>
</p:tagLst>
</file>

<file path=ppt/tags/tag150.xml><?xml version="1.0" encoding="utf-8"?>
<p:tagLst xmlns:p="http://schemas.openxmlformats.org/presentationml/2006/main">
  <p:tag name="KSO_WM_DIAGRAM_VIRTUALLY_FRAME" val="{&quot;height&quot;:353.65,&quot;left&quot;:49.7,&quot;top&quot;:143.8,&quot;width&quot;:856.3}"/>
</p:tagLst>
</file>

<file path=ppt/tags/tag151.xml><?xml version="1.0" encoding="utf-8"?>
<p:tagLst xmlns:p="http://schemas.openxmlformats.org/presentationml/2006/main">
  <p:tag name="KSO_WM_DIAGRAM_VIRTUALLY_FRAME" val="{&quot;height&quot;:353.65,&quot;left&quot;:49.7,&quot;top&quot;:143.8,&quot;width&quot;:856.3}"/>
</p:tagLst>
</file>

<file path=ppt/tags/tag152.xml><?xml version="1.0" encoding="utf-8"?>
<p:tagLst xmlns:p="http://schemas.openxmlformats.org/presentationml/2006/main">
  <p:tag name="KSO_WM_DIAGRAM_VIRTUALLY_FRAME" val="{&quot;height&quot;:353.65,&quot;left&quot;:49.7,&quot;top&quot;:143.8,&quot;width&quot;:856.3}"/>
</p:tagLst>
</file>

<file path=ppt/tags/tag153.xml><?xml version="1.0" encoding="utf-8"?>
<p:tagLst xmlns:p="http://schemas.openxmlformats.org/presentationml/2006/main">
  <p:tag name="KSO_WM_DIAGRAM_VIRTUALLY_FRAME" val="{&quot;height&quot;:353.65,&quot;left&quot;:49.7,&quot;top&quot;:143.8,&quot;width&quot;:856.3}"/>
</p:tagLst>
</file>

<file path=ppt/tags/tag154.xml><?xml version="1.0" encoding="utf-8"?>
<p:tagLst xmlns:p="http://schemas.openxmlformats.org/presentationml/2006/main">
  <p:tag name="KSO_WM_DIAGRAM_VIRTUALLY_FRAME" val="{&quot;height&quot;:346.15,&quot;left&quot;:54,&quot;top&quot;:132,&quot;width&quot;:855.05}"/>
</p:tagLst>
</file>

<file path=ppt/tags/tag155.xml><?xml version="1.0" encoding="utf-8"?>
<p:tagLst xmlns:p="http://schemas.openxmlformats.org/presentationml/2006/main">
  <p:tag name="KSO_WM_DIAGRAM_VIRTUALLY_FRAME" val="{&quot;height&quot;:346.15,&quot;left&quot;:54,&quot;top&quot;:132,&quot;width&quot;:855.05}"/>
</p:tagLst>
</file>

<file path=ppt/tags/tag156.xml><?xml version="1.0" encoding="utf-8"?>
<p:tagLst xmlns:p="http://schemas.openxmlformats.org/presentationml/2006/main">
  <p:tag name="KSO_WM_DIAGRAM_VIRTUALLY_FRAME" val="{&quot;height&quot;:346.15,&quot;left&quot;:54,&quot;top&quot;:132,&quot;width&quot;:855.05}"/>
</p:tagLst>
</file>

<file path=ppt/tags/tag157.xml><?xml version="1.0" encoding="utf-8"?>
<p:tagLst xmlns:p="http://schemas.openxmlformats.org/presentationml/2006/main">
  <p:tag name="KSO_WM_DIAGRAM_VIRTUALLY_FRAME" val="{&quot;height&quot;:346.15,&quot;left&quot;:54,&quot;top&quot;:132,&quot;width&quot;:855.05}"/>
</p:tagLst>
</file>

<file path=ppt/tags/tag158.xml><?xml version="1.0" encoding="utf-8"?>
<p:tagLst xmlns:p="http://schemas.openxmlformats.org/presentationml/2006/main">
  <p:tag name="KSO_WM_DIAGRAM_VIRTUALLY_FRAME" val="{&quot;height&quot;:346.15,&quot;left&quot;:54,&quot;top&quot;:132,&quot;width&quot;:855.05}"/>
</p:tagLst>
</file>

<file path=ppt/tags/tag159.xml><?xml version="1.0" encoding="utf-8"?>
<p:tagLst xmlns:p="http://schemas.openxmlformats.org/presentationml/2006/main">
  <p:tag name="KSO_WM_DIAGRAM_VIRTUALLY_FRAME" val="{&quot;height&quot;:346.15,&quot;left&quot;:54,&quot;top&quot;:132,&quot;width&quot;:855.05}"/>
</p:tagLst>
</file>

<file path=ppt/tags/tag160.xml><?xml version="1.0" encoding="utf-8"?>
<p:tagLst xmlns:p="http://schemas.openxmlformats.org/presentationml/2006/main">
  <p:tag name="KSO_WM_DIAGRAM_VIRTUALLY_FRAME" val="{&quot;height&quot;:346.15,&quot;left&quot;:54,&quot;top&quot;:132,&quot;width&quot;:855.05}"/>
</p:tagLst>
</file>

<file path=ppt/tags/tag161.xml><?xml version="1.0" encoding="utf-8"?>
<p:tagLst xmlns:p="http://schemas.openxmlformats.org/presentationml/2006/main">
  <p:tag name="KSO_WM_DIAGRAM_VIRTUALLY_FRAME" val="{&quot;height&quot;:346.15,&quot;left&quot;:54,&quot;top&quot;:132,&quot;width&quot;:855.05}"/>
</p:tagLst>
</file>

<file path=ppt/tags/tag162.xml><?xml version="1.0" encoding="utf-8"?>
<p:tagLst xmlns:p="http://schemas.openxmlformats.org/presentationml/2006/main">
  <p:tag name="KSO_WM_DIAGRAM_VIRTUALLY_FRAME" val="{&quot;height&quot;:346.15,&quot;left&quot;:54,&quot;top&quot;:132,&quot;width&quot;:855.05}"/>
</p:tagLst>
</file>

<file path=ppt/tags/tag163.xml><?xml version="1.0" encoding="utf-8"?>
<p:tagLst xmlns:p="http://schemas.openxmlformats.org/presentationml/2006/main">
  <p:tag name="KSO_WM_DIAGRAM_VIRTUALLY_FRAME" val="{&quot;height&quot;:346.15,&quot;left&quot;:54,&quot;top&quot;:132,&quot;width&quot;:855.05}"/>
</p:tagLst>
</file>

<file path=ppt/tags/tag164.xml><?xml version="1.0" encoding="utf-8"?>
<p:tagLst xmlns:p="http://schemas.openxmlformats.org/presentationml/2006/main">
  <p:tag name="KSO_WM_DIAGRAM_VIRTUALLY_FRAME" val="{&quot;height&quot;:346.15,&quot;left&quot;:54,&quot;top&quot;:132,&quot;width&quot;:855.05}"/>
</p:tagLst>
</file>

<file path=ppt/tags/tag165.xml><?xml version="1.0" encoding="utf-8"?>
<p:tagLst xmlns:p="http://schemas.openxmlformats.org/presentationml/2006/main">
  <p:tag name="KSO_WM_DIAGRAM_VIRTUALLY_FRAME" val="{&quot;height&quot;:346.15,&quot;left&quot;:54,&quot;top&quot;:132,&quot;width&quot;:855.05}"/>
</p:tagLst>
</file>

<file path=ppt/tags/tag166.xml><?xml version="1.0" encoding="utf-8"?>
<p:tagLst xmlns:p="http://schemas.openxmlformats.org/presentationml/2006/main">
  <p:tag name="KSO_WM_DIAGRAM_VIRTUALLY_FRAME" val="{&quot;height&quot;:346.15,&quot;left&quot;:54,&quot;top&quot;:132,&quot;width&quot;:855.05}"/>
</p:tagLst>
</file>

<file path=ppt/tags/tag167.xml><?xml version="1.0" encoding="utf-8"?>
<p:tagLst xmlns:p="http://schemas.openxmlformats.org/presentationml/2006/main">
  <p:tag name="KSO_WM_DIAGRAM_VIRTUALLY_FRAME" val="{&quot;height&quot;:346.15,&quot;left&quot;:54,&quot;top&quot;:132,&quot;width&quot;:855.05}"/>
</p:tagLst>
</file>

<file path=ppt/tags/tag168.xml><?xml version="1.0" encoding="utf-8"?>
<p:tagLst xmlns:p="http://schemas.openxmlformats.org/presentationml/2006/main">
  <p:tag name="KSO_WM_DIAGRAM_VIRTUALLY_FRAME" val="{&quot;height&quot;:346.15,&quot;left&quot;:54,&quot;top&quot;:132,&quot;width&quot;:855.05}"/>
</p:tagLst>
</file>

<file path=ppt/tags/tag169.xml><?xml version="1.0" encoding="utf-8"?>
<p:tagLst xmlns:p="http://schemas.openxmlformats.org/presentationml/2006/main">
  <p:tag name="KSO_WM_DIAGRAM_VIRTUALLY_FRAME" val="{&quot;height&quot;:346.15,&quot;left&quot;:54,&quot;top&quot;:132,&quot;width&quot;:855.05}"/>
</p:tagLst>
</file>

<file path=ppt/tags/tag170.xml><?xml version="1.0" encoding="utf-8"?>
<p:tagLst xmlns:p="http://schemas.openxmlformats.org/presentationml/2006/main">
  <p:tag name="KSO_WM_DIAGRAM_VIRTUALLY_FRAME" val="{&quot;height&quot;:346.15,&quot;left&quot;:54,&quot;top&quot;:132,&quot;width&quot;:855.05}"/>
</p:tagLst>
</file>

<file path=ppt/tags/tag171.xml><?xml version="1.0" encoding="utf-8"?>
<p:tagLst xmlns:p="http://schemas.openxmlformats.org/presentationml/2006/main">
  <p:tag name="KSO_WM_DIAGRAM_VIRTUALLY_FRAME" val="{&quot;height&quot;:346.15,&quot;left&quot;:54,&quot;top&quot;:132,&quot;width&quot;:855.05}"/>
</p:tagLst>
</file>

<file path=ppt/tags/tag172.xml><?xml version="1.0" encoding="utf-8"?>
<p:tagLst xmlns:p="http://schemas.openxmlformats.org/presentationml/2006/main">
  <p:tag name="KSO_WM_DIAGRAM_VIRTUALLY_FRAME" val="{&quot;height&quot;:346.15,&quot;left&quot;:54,&quot;top&quot;:132,&quot;width&quot;:855.05}"/>
</p:tagLst>
</file>

<file path=ppt/tags/tag173.xml><?xml version="1.0" encoding="utf-8"?>
<p:tagLst xmlns:p="http://schemas.openxmlformats.org/presentationml/2006/main">
  <p:tag name="KSO_WM_DIAGRAM_VIRTUALLY_FRAME" val="{&quot;height&quot;:346.15,&quot;left&quot;:54,&quot;top&quot;:132,&quot;width&quot;:855.05}"/>
</p:tagLst>
</file>

<file path=ppt/tags/tag174.xml><?xml version="1.0" encoding="utf-8"?>
<p:tagLst xmlns:p="http://schemas.openxmlformats.org/presentationml/2006/main">
  <p:tag name="KSO_WM_DIAGRAM_VIRTUALLY_FRAME" val="{&quot;height&quot;:346.15,&quot;left&quot;:54,&quot;top&quot;:132,&quot;width&quot;:855.05}"/>
</p:tagLst>
</file>

<file path=ppt/tags/tag175.xml><?xml version="1.0" encoding="utf-8"?>
<p:tagLst xmlns:p="http://schemas.openxmlformats.org/presentationml/2006/main">
  <p:tag name="KSO_WM_DIAGRAM_VIRTUALLY_FRAME" val="{&quot;height&quot;:346.15,&quot;left&quot;:54,&quot;top&quot;:132,&quot;width&quot;:855.05}"/>
</p:tagLst>
</file>

<file path=ppt/tags/tag176.xml><?xml version="1.0" encoding="utf-8"?>
<p:tagLst xmlns:p="http://schemas.openxmlformats.org/presentationml/2006/main">
  <p:tag name="KSO_WM_DIAGRAM_VIRTUALLY_FRAME" val="{&quot;height&quot;:346.15,&quot;left&quot;:54,&quot;top&quot;:132,&quot;width&quot;:855.05}"/>
</p:tagLst>
</file>

<file path=ppt/tags/tag177.xml><?xml version="1.0" encoding="utf-8"?>
<p:tagLst xmlns:p="http://schemas.openxmlformats.org/presentationml/2006/main">
  <p:tag name="KSO_WM_DIAGRAM_VIRTUALLY_FRAME" val="{&quot;height&quot;:346.15,&quot;left&quot;:54,&quot;top&quot;:132,&quot;width&quot;:855.05}"/>
</p:tagLst>
</file>

<file path=ppt/tags/tag178.xml><?xml version="1.0" encoding="utf-8"?>
<p:tagLst xmlns:p="http://schemas.openxmlformats.org/presentationml/2006/main">
  <p:tag name="KSO_WM_DIAGRAM_VIRTUALLY_FRAME" val="{&quot;height&quot;:303.35,&quot;left&quot;:54,&quot;top&quot;:132,&quot;width&quot;:957.6}"/>
</p:tagLst>
</file>

<file path=ppt/tags/tag179.xml><?xml version="1.0" encoding="utf-8"?>
<p:tagLst xmlns:p="http://schemas.openxmlformats.org/presentationml/2006/main">
  <p:tag name="KSO_WM_DIAGRAM_VIRTUALLY_FRAME" val="{&quot;height&quot;:303.35,&quot;left&quot;:54,&quot;top&quot;:132,&quot;width&quot;:957.6}"/>
</p:tagLst>
</file>

<file path=ppt/tags/tag180.xml><?xml version="1.0" encoding="utf-8"?>
<p:tagLst xmlns:p="http://schemas.openxmlformats.org/presentationml/2006/main">
  <p:tag name="KSO_WM_DIAGRAM_VIRTUALLY_FRAME" val="{&quot;height&quot;:303.35,&quot;left&quot;:54,&quot;top&quot;:132,&quot;width&quot;:957.6}"/>
</p:tagLst>
</file>

<file path=ppt/tags/tag181.xml><?xml version="1.0" encoding="utf-8"?>
<p:tagLst xmlns:p="http://schemas.openxmlformats.org/presentationml/2006/main">
  <p:tag name="KSO_WM_DIAGRAM_VIRTUALLY_FRAME" val="{&quot;height&quot;:303.35,&quot;left&quot;:54,&quot;top&quot;:132,&quot;width&quot;:957.6}"/>
</p:tagLst>
</file>

<file path=ppt/tags/tag182.xml><?xml version="1.0" encoding="utf-8"?>
<p:tagLst xmlns:p="http://schemas.openxmlformats.org/presentationml/2006/main">
  <p:tag name="KSO_WM_DIAGRAM_VIRTUALLY_FRAME" val="{&quot;height&quot;:303.35,&quot;left&quot;:54,&quot;top&quot;:132,&quot;width&quot;:957.6}"/>
</p:tagLst>
</file>

<file path=ppt/tags/tag183.xml><?xml version="1.0" encoding="utf-8"?>
<p:tagLst xmlns:p="http://schemas.openxmlformats.org/presentationml/2006/main">
  <p:tag name="KSO_WM_DIAGRAM_VIRTUALLY_FRAME" val="{&quot;height&quot;:303.35,&quot;left&quot;:54,&quot;top&quot;:132,&quot;width&quot;:957.6}"/>
</p:tagLst>
</file>

<file path=ppt/tags/tag184.xml><?xml version="1.0" encoding="utf-8"?>
<p:tagLst xmlns:p="http://schemas.openxmlformats.org/presentationml/2006/main">
  <p:tag name="KSO_WM_DIAGRAM_VIRTUALLY_FRAME" val="{&quot;height&quot;:303.35,&quot;left&quot;:54,&quot;top&quot;:132,&quot;width&quot;:957.6}"/>
</p:tagLst>
</file>

<file path=ppt/tags/tag185.xml><?xml version="1.0" encoding="utf-8"?>
<p:tagLst xmlns:p="http://schemas.openxmlformats.org/presentationml/2006/main">
  <p:tag name="KSO_WM_DIAGRAM_VIRTUALLY_FRAME" val="{&quot;height&quot;:303.35,&quot;left&quot;:54,&quot;top&quot;:132,&quot;width&quot;:957.6}"/>
</p:tagLst>
</file>

<file path=ppt/tags/tag186.xml><?xml version="1.0" encoding="utf-8"?>
<p:tagLst xmlns:p="http://schemas.openxmlformats.org/presentationml/2006/main">
  <p:tag name="KSO_WM_DIAGRAM_VIRTUALLY_FRAME" val="{&quot;height&quot;:303.35,&quot;left&quot;:54,&quot;top&quot;:132,&quot;width&quot;:957.6}"/>
</p:tagLst>
</file>

<file path=ppt/tags/tag187.xml><?xml version="1.0" encoding="utf-8"?>
<p:tagLst xmlns:p="http://schemas.openxmlformats.org/presentationml/2006/main">
  <p:tag name="KSO_WM_DIAGRAM_VIRTUALLY_FRAME" val="{&quot;height&quot;:303.35,&quot;left&quot;:54,&quot;top&quot;:132,&quot;width&quot;:957.6}"/>
</p:tagLst>
</file>

<file path=ppt/tags/tag188.xml><?xml version="1.0" encoding="utf-8"?>
<p:tagLst xmlns:p="http://schemas.openxmlformats.org/presentationml/2006/main">
  <p:tag name="KSO_WM_DIAGRAM_VIRTUALLY_FRAME" val="{&quot;height&quot;:303.35,&quot;left&quot;:54,&quot;top&quot;:132,&quot;width&quot;:957.6}"/>
</p:tagLst>
</file>

<file path=ppt/tags/tag189.xml><?xml version="1.0" encoding="utf-8"?>
<p:tagLst xmlns:p="http://schemas.openxmlformats.org/presentationml/2006/main">
  <p:tag name="KSO_WM_DIAGRAM_VIRTUALLY_FRAME" val="{&quot;height&quot;:303.35,&quot;left&quot;:54,&quot;top&quot;:132,&quot;width&quot;:957.6}"/>
</p:tagLst>
</file>

<file path=ppt/tags/tag190.xml><?xml version="1.0" encoding="utf-8"?>
<p:tagLst xmlns:p="http://schemas.openxmlformats.org/presentationml/2006/main">
  <p:tag name="KSO_WM_DIAGRAM_VIRTUALLY_FRAME" val="{&quot;height&quot;:303.35,&quot;left&quot;:54,&quot;top&quot;:132,&quot;width&quot;:957.6}"/>
</p:tagLst>
</file>

<file path=ppt/tags/tag191.xml><?xml version="1.0" encoding="utf-8"?>
<p:tagLst xmlns:p="http://schemas.openxmlformats.org/presentationml/2006/main">
  <p:tag name="KSO_WM_DIAGRAM_VIRTUALLY_FRAME" val="{&quot;height&quot;:303.35,&quot;left&quot;:54,&quot;top&quot;:132,&quot;width&quot;:957.6}"/>
</p:tagLst>
</file>

<file path=ppt/tags/tag192.xml><?xml version="1.0" encoding="utf-8"?>
<p:tagLst xmlns:p="http://schemas.openxmlformats.org/presentationml/2006/main">
  <p:tag name="KSO_WM_DIAGRAM_VIRTUALLY_FRAME" val="{&quot;height&quot;:303.35,&quot;left&quot;:54,&quot;top&quot;:132,&quot;width&quot;:957.6}"/>
</p:tagLst>
</file>

<file path=ppt/tags/tag193.xml><?xml version="1.0" encoding="utf-8"?>
<p:tagLst xmlns:p="http://schemas.openxmlformats.org/presentationml/2006/main">
  <p:tag name="KSO_WM_DIAGRAM_VIRTUALLY_FRAME" val="{&quot;height&quot;:303.35,&quot;left&quot;:54,&quot;top&quot;:132,&quot;width&quot;:957.6}"/>
</p:tagLst>
</file>

<file path=ppt/tags/tag194.xml><?xml version="1.0" encoding="utf-8"?>
<p:tagLst xmlns:p="http://schemas.openxmlformats.org/presentationml/2006/main">
  <p:tag name="KSO_WM_DIAGRAM_VIRTUALLY_FRAME" val="{&quot;height&quot;:303.35,&quot;left&quot;:54,&quot;top&quot;:132,&quot;width&quot;:957.6}"/>
</p:tagLst>
</file>

<file path=ppt/tags/tag195.xml><?xml version="1.0" encoding="utf-8"?>
<p:tagLst xmlns:p="http://schemas.openxmlformats.org/presentationml/2006/main">
  <p:tag name="KSO_WM_DIAGRAM_VIRTUALLY_FRAME" val="{&quot;height&quot;:303.35,&quot;left&quot;:54,&quot;top&quot;:132,&quot;width&quot;:957.6}"/>
</p:tagLst>
</file>

<file path=ppt/tags/tag196.xml><?xml version="1.0" encoding="utf-8"?>
<p:tagLst xmlns:p="http://schemas.openxmlformats.org/presentationml/2006/main">
  <p:tag name="KSO_WM_DIAGRAM_VIRTUALLY_FRAME" val="{&quot;height&quot;:303.35,&quot;left&quot;:54,&quot;top&quot;:132,&quot;width&quot;:957.6}"/>
</p:tagLst>
</file>

<file path=ppt/tags/tag197.xml><?xml version="1.0" encoding="utf-8"?>
<p:tagLst xmlns:p="http://schemas.openxmlformats.org/presentationml/2006/main">
  <p:tag name="KSO_WM_DIAGRAM_VIRTUALLY_FRAME" val="{&quot;height&quot;:303.35,&quot;left&quot;:54,&quot;top&quot;:132,&quot;width&quot;:957.6}"/>
</p:tagLst>
</file>

<file path=ppt/tags/tag198.xml><?xml version="1.0" encoding="utf-8"?>
<p:tagLst xmlns:p="http://schemas.openxmlformats.org/presentationml/2006/main">
  <p:tag name="KSO_WM_DIAGRAM_VIRTUALLY_FRAME" val="{&quot;height&quot;:303.35,&quot;left&quot;:54,&quot;top&quot;:132,&quot;width&quot;:957.6}"/>
</p:tagLst>
</file>

<file path=ppt/tags/tag199.xml><?xml version="1.0" encoding="utf-8"?>
<p:tagLst xmlns:p="http://schemas.openxmlformats.org/presentationml/2006/main">
  <p:tag name="KSO_WM_DIAGRAM_VIRTUALLY_FRAME" val="{&quot;height&quot;:399.6,&quot;left&quot;:66,&quot;top&quot;:118.35,&quot;width&quot;:828}"/>
</p:tagLst>
</file>

<file path=ppt/tags/tag200.xml><?xml version="1.0" encoding="utf-8"?>
<p:tagLst xmlns:p="http://schemas.openxmlformats.org/presentationml/2006/main">
  <p:tag name="KSO_WM_DIAGRAM_VIRTUALLY_FRAME" val="{&quot;height&quot;:399.6,&quot;left&quot;:66,&quot;top&quot;:118.35,&quot;width&quot;:828}"/>
</p:tagLst>
</file>

<file path=ppt/tags/tag201.xml><?xml version="1.0" encoding="utf-8"?>
<p:tagLst xmlns:p="http://schemas.openxmlformats.org/presentationml/2006/main">
  <p:tag name="KSO_WM_DIAGRAM_VIRTUALLY_FRAME" val="{&quot;height&quot;:399.6,&quot;left&quot;:66,&quot;top&quot;:118.35,&quot;width&quot;:828}"/>
</p:tagLst>
</file>

<file path=ppt/tags/tag202.xml><?xml version="1.0" encoding="utf-8"?>
<p:tagLst xmlns:p="http://schemas.openxmlformats.org/presentationml/2006/main">
  <p:tag name="KSO_WM_DIAGRAM_VIRTUALLY_FRAME" val="{&quot;height&quot;:399.6,&quot;left&quot;:66,&quot;top&quot;:118.35,&quot;width&quot;:828}"/>
</p:tagLst>
</file>

<file path=ppt/tags/tag203.xml><?xml version="1.0" encoding="utf-8"?>
<p:tagLst xmlns:p="http://schemas.openxmlformats.org/presentationml/2006/main">
  <p:tag name="KSO_WM_DIAGRAM_VIRTUALLY_FRAME" val="{&quot;height&quot;:399.6,&quot;left&quot;:66,&quot;top&quot;:118.35,&quot;width&quot;:828}"/>
</p:tagLst>
</file>

<file path=ppt/tags/tag204.xml><?xml version="1.0" encoding="utf-8"?>
<p:tagLst xmlns:p="http://schemas.openxmlformats.org/presentationml/2006/main">
  <p:tag name="KSO_WM_DIAGRAM_VIRTUALLY_FRAME" val="{&quot;height&quot;:399.6,&quot;left&quot;:66,&quot;top&quot;:118.35,&quot;width&quot;:828}"/>
</p:tagLst>
</file>

<file path=ppt/tags/tag205.xml><?xml version="1.0" encoding="utf-8"?>
<p:tagLst xmlns:p="http://schemas.openxmlformats.org/presentationml/2006/main">
  <p:tag name="KSO_WM_DIAGRAM_VIRTUALLY_FRAME" val="{&quot;height&quot;:399.6,&quot;left&quot;:66,&quot;top&quot;:118.35,&quot;width&quot;:828}"/>
</p:tagLst>
</file>

<file path=ppt/tags/tag206.xml><?xml version="1.0" encoding="utf-8"?>
<p:tagLst xmlns:p="http://schemas.openxmlformats.org/presentationml/2006/main">
  <p:tag name="KSO_WM_DIAGRAM_VIRTUALLY_FRAME" val="{&quot;height&quot;:399.6,&quot;left&quot;:66,&quot;top&quot;:118.35,&quot;width&quot;:831.5}"/>
</p:tagLst>
</file>

<file path=ppt/tags/tag207.xml><?xml version="1.0" encoding="utf-8"?>
<p:tagLst xmlns:p="http://schemas.openxmlformats.org/presentationml/2006/main">
  <p:tag name="KSO_WM_DIAGRAM_VIRTUALLY_FRAME" val="{&quot;height&quot;:399.6,&quot;left&quot;:66,&quot;top&quot;:118.35,&quot;width&quot;:831.5}"/>
</p:tagLst>
</file>

<file path=ppt/tags/tag208.xml><?xml version="1.0" encoding="utf-8"?>
<p:tagLst xmlns:p="http://schemas.openxmlformats.org/presentationml/2006/main">
  <p:tag name="KSO_WM_DIAGRAM_VIRTUALLY_FRAME" val="{&quot;height&quot;:399.6,&quot;left&quot;:66,&quot;top&quot;:118.35,&quot;width&quot;:831.5}"/>
</p:tagLst>
</file>

<file path=ppt/tags/tag209.xml><?xml version="1.0" encoding="utf-8"?>
<p:tagLst xmlns:p="http://schemas.openxmlformats.org/presentationml/2006/main">
  <p:tag name="KSO_WM_DIAGRAM_VIRTUALLY_FRAME" val="{&quot;height&quot;:399.6,&quot;left&quot;:66,&quot;top&quot;:118.35,&quot;width&quot;:831.5}"/>
</p:tagLst>
</file>

<file path=ppt/tags/tag210.xml><?xml version="1.0" encoding="utf-8"?>
<p:tagLst xmlns:p="http://schemas.openxmlformats.org/presentationml/2006/main">
  <p:tag name="KSO_WM_DIAGRAM_VIRTUALLY_FRAME" val="{&quot;height&quot;:399.6,&quot;left&quot;:66,&quot;top&quot;:118.35,&quot;width&quot;:831.5}"/>
</p:tagLst>
</file>

<file path=ppt/tags/tag211.xml><?xml version="1.0" encoding="utf-8"?>
<p:tagLst xmlns:p="http://schemas.openxmlformats.org/presentationml/2006/main">
  <p:tag name="KSO_WM_DIAGRAM_VIRTUALLY_FRAME" val="{&quot;height&quot;:399.6,&quot;left&quot;:66,&quot;top&quot;:118.35,&quot;width&quot;:831.5}"/>
</p:tagLst>
</file>

<file path=ppt/tags/tag212.xml><?xml version="1.0" encoding="utf-8"?>
<p:tagLst xmlns:p="http://schemas.openxmlformats.org/presentationml/2006/main">
  <p:tag name="KSO_WM_DIAGRAM_VIRTUALLY_FRAME" val="{&quot;height&quot;:399.6,&quot;left&quot;:66,&quot;top&quot;:118.35,&quot;width&quot;:831.5}"/>
</p:tagLst>
</file>

<file path=ppt/tags/tag213.xml><?xml version="1.0" encoding="utf-8"?>
<p:tagLst xmlns:p="http://schemas.openxmlformats.org/presentationml/2006/main">
  <p:tag name="KSO_WM_DIAGRAM_VIRTUALLY_FRAME" val="{&quot;height&quot;:399.6,&quot;left&quot;:66,&quot;top&quot;:118.35,&quot;width&quot;:831.5}"/>
</p:tagLst>
</file>

<file path=ppt/tags/tag214.xml><?xml version="1.0" encoding="utf-8"?>
<p:tagLst xmlns:p="http://schemas.openxmlformats.org/presentationml/2006/main">
  <p:tag name="KSO_WM_DIAGRAM_VIRTUALLY_FRAME" val="{&quot;height&quot;:399.6,&quot;left&quot;:66,&quot;top&quot;:118.35,&quot;width&quot;:831.5}"/>
</p:tagLst>
</file>

<file path=ppt/tags/tag215.xml><?xml version="1.0" encoding="utf-8"?>
<p:tagLst xmlns:p="http://schemas.openxmlformats.org/presentationml/2006/main">
  <p:tag name="KSO_WM_DIAGRAM_VIRTUALLY_FRAME" val="{&quot;height&quot;:399.6,&quot;left&quot;:66,&quot;top&quot;:118.35,&quot;width&quot;:831.5}"/>
</p:tagLst>
</file>

<file path=ppt/tags/tag216.xml><?xml version="1.0" encoding="utf-8"?>
<p:tagLst xmlns:p="http://schemas.openxmlformats.org/presentationml/2006/main">
  <p:tag name="KSO_WM_DIAGRAM_VIRTUALLY_FRAME" val="{&quot;height&quot;:399.6,&quot;left&quot;:66,&quot;top&quot;:118.35,&quot;width&quot;:831.5}"/>
</p:tagLst>
</file>

<file path=ppt/tags/tag217.xml><?xml version="1.0" encoding="utf-8"?>
<p:tagLst xmlns:p="http://schemas.openxmlformats.org/presentationml/2006/main">
  <p:tag name="KSO_WM_DIAGRAM_VIRTUALLY_FRAME" val="{&quot;height&quot;:399.6,&quot;left&quot;:66,&quot;top&quot;:118.35,&quot;width&quot;:831.5}"/>
</p:tagLst>
</file>

<file path=ppt/tags/tag218.xml><?xml version="1.0" encoding="utf-8"?>
<p:tagLst xmlns:p="http://schemas.openxmlformats.org/presentationml/2006/main">
  <p:tag name="KSO_WM_DIAGRAM_VIRTUALLY_FRAME" val="{&quot;height&quot;:399.6,&quot;left&quot;:66,&quot;top&quot;:118.35,&quot;width&quot;:831.5}"/>
</p:tagLst>
</file>

<file path=ppt/tags/tag219.xml><?xml version="1.0" encoding="utf-8"?>
<p:tagLst xmlns:p="http://schemas.openxmlformats.org/presentationml/2006/main">
  <p:tag name="KSO_WM_DIAGRAM_VIRTUALLY_FRAME" val="{&quot;height&quot;:399.6,&quot;left&quot;:66,&quot;top&quot;:118.35,&quot;width&quot;:831.5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4689</Words>
  <Application>WPS 演示</Application>
  <PresentationFormat>On-screen Show (16:9)</PresentationFormat>
  <Paragraphs>566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18</vt:i4>
      </vt:variant>
    </vt:vector>
  </HeadingPairs>
  <TitlesOfParts>
    <vt:vector size="30" baseType="lpstr">
      <vt:lpstr>Arial</vt:lpstr>
      <vt:lpstr>宋体</vt:lpstr>
      <vt:lpstr>Wingdings</vt:lpstr>
      <vt:lpstr>Arial</vt:lpstr>
      <vt:lpstr>微软雅黑</vt:lpstr>
      <vt:lpstr>Wingdings</vt:lpstr>
      <vt:lpstr>方正小标宋简体</vt:lpstr>
      <vt:lpstr>黑体</vt:lpstr>
      <vt:lpstr>Arial Unicode MS</vt:lpstr>
      <vt:lpstr>Calibri</vt:lpstr>
      <vt:lpstr>Office Theme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徐子淳</cp:lastModifiedBy>
  <cp:revision>9</cp:revision>
  <dcterms:created xsi:type="dcterms:W3CDTF">2026-06-27T15:37:00Z</dcterms:created>
  <dcterms:modified xsi:type="dcterms:W3CDTF">2026-06-30T11:09:09Z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25AE408C3E1A4456A7F4B09C2EB8F455_13</vt:lpwstr>
  </property>
  <property fmtid="{D5CDD505-2E9C-101B-9397-08002B2CF9AE}" pid="3" name="KSOProductBuildVer">
    <vt:lpwstr>2052-12.1.0.23542</vt:lpwstr>
  </property>
</Properties>
</file>